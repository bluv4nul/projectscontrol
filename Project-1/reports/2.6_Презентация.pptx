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накомство" id="{bc99df14-c19a-0ff5-6083-abc9bd13b199}">
          <p14:sldIdLst>
            <p14:sldId id="256"/>
          </p14:sldIdLst>
        </p14:section>
        <p14:section name="Проблема и решение" id="{a6eb18c8-b683-7050-da8c-90532f607d3f}">
          <p14:sldIdLst>
            <p14:sldId id="257"/>
            <p14:sldId id="258"/>
          </p14:sldIdLst>
        </p14:section>
        <p14:section name="Возможности" id="{3eea5e40-4a88-f328-8a2d-23d868dc07ae}">
          <p14:sldIdLst>
            <p14:sldId id="259"/>
            <p14:sldId id="260"/>
            <p14:sldId id="261"/>
            <p14:sldId id="262"/>
            <p14:sldId id="263"/>
          </p14:sldIdLst>
        </p14:section>
        <p14:section name="Надёжность" id="{1f7bf566-0d79-dfd1-c210-923e37efe1d7}">
          <p14:sldIdLst>
            <p14:sldId id="264"/>
            <p14:sldId id="265"/>
          </p14:sldIdLst>
        </p14:section>
        <p14:section name="Итог" id="{b7682903-4ba1-0da5-e9d3-bf0c7ff21ba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Мы — команда «ВольтМаркет». ВольтМаркет — это информационная система на 1С:Предприятие 8.3 для магазина электроники: закупки, продажи, бронирование, цены и склад в одном окне.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небольшой магазин электроники. Остатки считают в тетради, и у каждого свои цифры. Покупатель оплатил телефон — а на складе его нет. Товар отложили для одного клиента — а продали другому. И в конце месяца непонятно, сколько магазин заработал. Все четыре проблемы решает ВольтМаркет.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данные хранятся в одной базе, поэтому цифры у всех одинаковые. При входе сотрудник видит рабочий стол: остаток на складе, товар в резерве, выручку и прибыль за месяц, что пора заказать и какие брони ждут покупателей. А на каждом шаге система подсказывает и проверяет.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умеет система? Каталог с фотографиями, цены с историей, поступления и продажи с контролем остатка и расчётом прибыли. В новой версии появились бронирование товара и быстрый ввод документов: подбор сразу нескольких товаров и добавление по артикулу. Отчёты показывают остатки, резерв, продажи и брони, а накладные и бланк брони печатаются одной кнопкой.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Основная работа — три шага. Закупщик оформляет поступление — товар появляется на складе. Продавец оформляет продажу — цена уже заполнена, справа видны фото и свободный остаток. Руководитель открывает анализ продаж и видит выручку, себестоимость и прибыль.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новинка — бронирование. Покупатель просит отложить ноутбук — продавец оформляет бронь. Товар сразу уходит из свободного остатка, и продать его другому покупателю система не даст. Покупатель пришёл — продажа заполняется из брони одной ссылкой, и товар списывается со склада. Передумал — бронь отменяют, и товар возвращается в свободный остаток. В списке броней видно состояние каждой, а просроченные выделены красным.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оформление документов быстрее. Кнопка «Подбор товаров» открывает список с ценами, остатками и фото: вписываешь количество прямо в список и переносишь всё в документ. Можно просто ввести артикул и нажать Enter. Если у покупателя есть бронь, система сама это подскажет, а закупщик одной кнопкой заказывает всё, что заканчивается.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карточке товара — фотография, цена, остаток и свободный остаток. У каждого из семнадцати товаров своё фото в едином стиле. Всё оформлено в фирменных цветах: тёмно-синий, голубой и янтарная молния — символ «Вольта».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сотрудник видит только своё: закупщик — каталог и поступления, продавец — покупателей, цены, брони и продажи, администратор — всё. Система защищает от ошибок: нельзя продать больше, чем есть, и нельзя продать чужую бронь, обязательные поля проверяются, а два продавца не продадут один последний товар одновременно.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ВольтМаркет готов к работе с первого запуска: товары с фото, покупатели, цены, документы и брони уже в базе. Пять разделов, три роли и два языка — русский и китайский.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ВольтМаркет — учёт, который заряжает ваш магазин. Попробуйте сами: войдите как продавец, забронируйте товар и продайте его по брони. Спасибо за внимание! Будем рады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ВольтМаркет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" descr="C:\Study\University\Repos\ProjectsControl\Project-1\_work\generator\src\pictur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4023360" cy="10058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ВольтМаркет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Учёт, который заряжает ваш магазин электроники</a:t>
            </a:r>
            <a:endParaRPr lang="en-US" sz="2200" dirty="0"/>
          </a:p>
        </p:txBody>
      </p:sp>
      <p:sp>
        <p:nvSpPr>
          <p:cNvPr id="5" name="Платформа"/>
          <p:cNvSpPr txBox="1"/>
          <p:nvPr/>
        </p:nvSpPr>
        <p:spPr>
          <a:xfrm>
            <a:off x="731520" y="4800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Информационная система на 1С:Предприятие 8.3 · версия 1.1 с бронированием</a:t>
            </a:r>
            <a:endParaRPr lang="en-US" sz="1600" dirty="0"/>
          </a:p>
        </p:txBody>
      </p:sp>
      <p:sp>
        <p:nvSpPr>
          <p:cNvPr id="6" name="Подпись"/>
          <p:cNvSpPr txBox="1"/>
          <p:nvPr/>
        </p:nvSpPr>
        <p:spPr>
          <a:xfrm>
            <a:off x="73152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Учебный проект · РГПУ им. А. И. Герцена · 2026</a:t>
            </a:r>
            <a:endParaRPr lang="en-US" sz="1200" dirty="0"/>
          </a:p>
        </p:txBody>
      </p:sp>
      <p:sp>
        <p:nvSpPr>
          <p:cNvPr id="7" name="Рабочий стол рамка"/>
          <p:cNvSpPr/>
          <p:nvPr/>
        </p:nvSpPr>
        <p:spPr>
          <a:xfrm>
            <a:off x="6830568" y="1527048"/>
            <a:ext cx="4809744" cy="2999232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8" name="Рабочий стол" descr="C:\Study\University\Repos\ProjectsControl\Project-1\_work\cheatsheets\src\img\ru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66344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Магазин без учёта — это хаос</a:t>
            </a:r>
            <a:endParaRPr lang="en-US" sz="3600" dirty="0"/>
          </a:p>
        </p:txBody>
      </p:sp>
      <p:sp>
        <p:nvSpPr>
          <p:cNvPr id="3" name="Проблема 1"/>
          <p:cNvSpPr/>
          <p:nvPr/>
        </p:nvSpPr>
        <p:spPr>
          <a:xfrm>
            <a:off x="640080" y="160020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Проблема 1 круг"/>
          <p:cNvSpPr/>
          <p:nvPr/>
        </p:nvSpPr>
        <p:spPr>
          <a:xfrm>
            <a:off x="914400" y="1874520"/>
            <a:ext cx="868680" cy="86868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pic>
        <p:nvPicPr>
          <p:cNvPr id="5" name="Проблема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2083003"/>
            <a:ext cx="451714" cy="451714"/>
          </a:xfrm>
          <a:prstGeom prst="rect">
            <a:avLst/>
          </a:prstGeom>
        </p:spPr>
      </p:pic>
      <p:sp>
        <p:nvSpPr>
          <p:cNvPr id="6" name="Проблема 1 заголовок"/>
          <p:cNvSpPr txBox="1"/>
          <p:nvPr/>
        </p:nvSpPr>
        <p:spPr>
          <a:xfrm>
            <a:off x="91440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Тетради и таблицы</a:t>
            </a:r>
            <a:endParaRPr lang="en-US" sz="1900" dirty="0"/>
          </a:p>
        </p:txBody>
      </p:sp>
      <p:sp>
        <p:nvSpPr>
          <p:cNvPr id="7" name="Проблема 1 текст"/>
          <p:cNvSpPr txBox="1"/>
          <p:nvPr/>
        </p:nvSpPr>
        <p:spPr>
          <a:xfrm>
            <a:off x="91440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Остатки считают вручную, и у каждого сотрудника свои цифры</a:t>
            </a:r>
            <a:endParaRPr lang="en-US" sz="1400" dirty="0"/>
          </a:p>
        </p:txBody>
      </p:sp>
      <p:sp>
        <p:nvSpPr>
          <p:cNvPr id="8" name="Проблема 2"/>
          <p:cNvSpPr/>
          <p:nvPr/>
        </p:nvSpPr>
        <p:spPr>
          <a:xfrm>
            <a:off x="3429000" y="160020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Проблема 2 круг"/>
          <p:cNvSpPr/>
          <p:nvPr/>
        </p:nvSpPr>
        <p:spPr>
          <a:xfrm>
            <a:off x="3703320" y="1874520"/>
            <a:ext cx="868680" cy="86868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pic>
        <p:nvPicPr>
          <p:cNvPr id="10" name="Проблема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803" y="2083003"/>
            <a:ext cx="451714" cy="451714"/>
          </a:xfrm>
          <a:prstGeom prst="rect">
            <a:avLst/>
          </a:prstGeom>
        </p:spPr>
      </p:pic>
      <p:sp>
        <p:nvSpPr>
          <p:cNvPr id="11" name="Проблема 2 заголовок"/>
          <p:cNvSpPr txBox="1"/>
          <p:nvPr/>
        </p:nvSpPr>
        <p:spPr>
          <a:xfrm>
            <a:off x="370332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Продали то, чего нет</a:t>
            </a:r>
            <a:endParaRPr lang="en-US" sz="1900" dirty="0"/>
          </a:p>
        </p:txBody>
      </p:sp>
      <p:sp>
        <p:nvSpPr>
          <p:cNvPr id="12" name="Проблема 2 текст"/>
          <p:cNvSpPr txBox="1"/>
          <p:nvPr/>
        </p:nvSpPr>
        <p:spPr>
          <a:xfrm>
            <a:off x="370332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Покупатель уже оплатил, а товара на складе не оказалось</a:t>
            </a:r>
            <a:endParaRPr lang="en-US" sz="1400" dirty="0"/>
          </a:p>
        </p:txBody>
      </p:sp>
      <p:sp>
        <p:nvSpPr>
          <p:cNvPr id="13" name="Проблема 3"/>
          <p:cNvSpPr/>
          <p:nvPr/>
        </p:nvSpPr>
        <p:spPr>
          <a:xfrm>
            <a:off x="6217920" y="160020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Проблема 3 круг"/>
          <p:cNvSpPr/>
          <p:nvPr/>
        </p:nvSpPr>
        <p:spPr>
          <a:xfrm>
            <a:off x="6492240" y="1874520"/>
            <a:ext cx="868680" cy="86868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pic>
        <p:nvPicPr>
          <p:cNvPr id="15" name="Проблема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23" y="2083003"/>
            <a:ext cx="451714" cy="451714"/>
          </a:xfrm>
          <a:prstGeom prst="rect">
            <a:avLst/>
          </a:prstGeom>
        </p:spPr>
      </p:pic>
      <p:sp>
        <p:nvSpPr>
          <p:cNvPr id="16" name="Проблема 3 заголовок"/>
          <p:cNvSpPr txBox="1"/>
          <p:nvPr/>
        </p:nvSpPr>
        <p:spPr>
          <a:xfrm>
            <a:off x="649224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Отложили — и продали</a:t>
            </a:r>
            <a:endParaRPr lang="en-US" sz="1900" dirty="0"/>
          </a:p>
        </p:txBody>
      </p:sp>
      <p:sp>
        <p:nvSpPr>
          <p:cNvPr id="17" name="Проблема 3 текст"/>
          <p:cNvSpPr txBox="1"/>
          <p:nvPr/>
        </p:nvSpPr>
        <p:spPr>
          <a:xfrm>
            <a:off x="649224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Товар обещали одному клиенту, а продали другому</a:t>
            </a:r>
            <a:endParaRPr lang="en-US" sz="1400" dirty="0"/>
          </a:p>
        </p:txBody>
      </p:sp>
      <p:sp>
        <p:nvSpPr>
          <p:cNvPr id="18" name="Проблема 4"/>
          <p:cNvSpPr/>
          <p:nvPr/>
        </p:nvSpPr>
        <p:spPr>
          <a:xfrm>
            <a:off x="9006840" y="160020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Проблема 4 круг"/>
          <p:cNvSpPr/>
          <p:nvPr/>
        </p:nvSpPr>
        <p:spPr>
          <a:xfrm>
            <a:off x="9281160" y="1874520"/>
            <a:ext cx="868680" cy="86868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pic>
        <p:nvPicPr>
          <p:cNvPr id="20" name="Проблема 4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643" y="2083003"/>
            <a:ext cx="451714" cy="451714"/>
          </a:xfrm>
          <a:prstGeom prst="rect">
            <a:avLst/>
          </a:prstGeom>
        </p:spPr>
      </p:pic>
      <p:sp>
        <p:nvSpPr>
          <p:cNvPr id="21" name="Проблема 4 заголовок"/>
          <p:cNvSpPr txBox="1"/>
          <p:nvPr/>
        </p:nvSpPr>
        <p:spPr>
          <a:xfrm>
            <a:off x="928116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Сколько заработали?</a:t>
            </a:r>
            <a:endParaRPr lang="en-US" sz="1900" dirty="0"/>
          </a:p>
        </p:txBody>
      </p:sp>
      <p:sp>
        <p:nvSpPr>
          <p:cNvPr id="22" name="Проблема 4 текст"/>
          <p:cNvSpPr txBox="1"/>
          <p:nvPr/>
        </p:nvSpPr>
        <p:spPr>
          <a:xfrm>
            <a:off x="928116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Выручку видно, а себестоимость и прибыль — нет</a:t>
            </a:r>
            <a:endParaRPr lang="en-US" sz="1400" dirty="0"/>
          </a:p>
        </p:txBody>
      </p:sp>
      <p:sp>
        <p:nvSpPr>
          <p:cNvPr id="23" name="Вывод"/>
          <p:cNvSpPr txBox="1"/>
          <p:nvPr/>
        </p:nvSpPr>
        <p:spPr>
          <a:xfrm>
            <a:off x="640080" y="4983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ВольтМаркет решает все четыре проблемы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Весь магазин — в одном окне</a:t>
            </a:r>
            <a:endParaRPr lang="en-US" sz="3600" dirty="0"/>
          </a:p>
        </p:txBody>
      </p:sp>
      <p:sp>
        <p:nvSpPr>
          <p:cNvPr id="3" name="Решение 1 круг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Решение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867205"/>
            <a:ext cx="380390" cy="380390"/>
          </a:xfrm>
          <a:prstGeom prst="rect">
            <a:avLst/>
          </a:prstGeom>
        </p:spPr>
      </p:pic>
      <p:sp>
        <p:nvSpPr>
          <p:cNvPr id="5" name="Решение 1 текст"/>
          <p:cNvSpPr txBox="1"/>
          <p:nvPr/>
        </p:nvSpPr>
        <p:spPr>
          <a:xfrm>
            <a:off x="1600200" y="1645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Закупки, продажи, цены и склад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в одной базе, без расхождений</a:t>
            </a:r>
            <a:endParaRPr lang="en-US" sz="2100" dirty="0"/>
          </a:p>
        </p:txBody>
      </p:sp>
      <p:sp>
        <p:nvSpPr>
          <p:cNvPr id="6" name="Решение 2 круг"/>
          <p:cNvSpPr/>
          <p:nvPr/>
        </p:nvSpPr>
        <p:spPr>
          <a:xfrm>
            <a:off x="640080" y="30632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Решение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3238805"/>
            <a:ext cx="380390" cy="380390"/>
          </a:xfrm>
          <a:prstGeom prst="rect">
            <a:avLst/>
          </a:prstGeom>
        </p:spPr>
      </p:pic>
      <p:sp>
        <p:nvSpPr>
          <p:cNvPr id="8" name="Решение 2 текст"/>
          <p:cNvSpPr txBox="1"/>
          <p:nvPr/>
        </p:nvSpPr>
        <p:spPr>
          <a:xfrm>
            <a:off x="1600200" y="3017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Рабочий стол с показателями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остаток, резерв, выручка, прибыль и брони</a:t>
            </a:r>
            <a:endParaRPr lang="en-US" sz="2100" dirty="0"/>
          </a:p>
        </p:txBody>
      </p:sp>
      <p:sp>
        <p:nvSpPr>
          <p:cNvPr id="9" name="Решение 3 круг"/>
          <p:cNvSpPr/>
          <p:nvPr/>
        </p:nvSpPr>
        <p:spPr>
          <a:xfrm>
            <a:off x="640080" y="44348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Решение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4610405"/>
            <a:ext cx="380390" cy="380390"/>
          </a:xfrm>
          <a:prstGeom prst="rect">
            <a:avLst/>
          </a:prstGeom>
        </p:spPr>
      </p:pic>
      <p:sp>
        <p:nvSpPr>
          <p:cNvPr id="11" name="Решение 3 текст"/>
          <p:cNvSpPr txBox="1"/>
          <p:nvPr/>
        </p:nvSpPr>
        <p:spPr>
          <a:xfrm>
            <a:off x="1600200" y="43891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Подсказки и проверки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на каждом шаге оформления</a:t>
            </a:r>
            <a:endParaRPr lang="en-US" sz="2100" dirty="0"/>
          </a:p>
        </p:txBody>
      </p:sp>
      <p:sp>
        <p:nvSpPr>
          <p:cNvPr id="12" name="Рабочий стол рамка"/>
          <p:cNvSpPr/>
          <p:nvPr/>
        </p:nvSpPr>
        <p:spPr>
          <a:xfrm>
            <a:off x="5824728" y="1527048"/>
            <a:ext cx="5815584" cy="3614569"/>
          </a:xfrm>
          <a:prstGeom prst="roundRect">
            <a:avLst>
              <a:gd name="adj" fmla="val 30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13" name="Рабочий стол" descr="C:\Study\University\Repos\ProjectsControl\Project-1\_work\cheatsheets\src\img\ru_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600200"/>
            <a:ext cx="5669280" cy="3468265"/>
          </a:xfrm>
          <a:prstGeom prst="rect">
            <a:avLst/>
          </a:prstGeom>
        </p:spPr>
      </p:pic>
      <p:sp>
        <p:nvSpPr>
          <p:cNvPr id="14" name="Подпись"/>
          <p:cNvSpPr txBox="1"/>
          <p:nvPr/>
        </p:nvSpPr>
        <p:spPr>
          <a:xfrm>
            <a:off x="5897880" y="5251345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Рабочий стол администратора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умеет ВольтМаркет</a:t>
            </a:r>
            <a:endParaRPr lang="en-US" sz="3600" dirty="0"/>
          </a:p>
        </p:txBody>
      </p:sp>
      <p:sp>
        <p:nvSpPr>
          <p:cNvPr id="3" name="Возможность 1"/>
          <p:cNvSpPr/>
          <p:nvPr/>
        </p:nvSpPr>
        <p:spPr>
          <a:xfrm>
            <a:off x="640080" y="155448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Возможность 1 круг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Возможность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93392"/>
            <a:ext cx="356616" cy="356616"/>
          </a:xfrm>
          <a:prstGeom prst="rect">
            <a:avLst/>
          </a:prstGeom>
        </p:spPr>
      </p:pic>
      <p:sp>
        <p:nvSpPr>
          <p:cNvPr id="6" name="Возможность 1 заголовок"/>
          <p:cNvSpPr txBox="1"/>
          <p:nvPr/>
        </p:nvSpPr>
        <p:spPr>
          <a:xfrm>
            <a:off x="1664208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Каталог с фото</a:t>
            </a:r>
            <a:endParaRPr lang="en-US" sz="1700" dirty="0"/>
          </a:p>
        </p:txBody>
      </p:sp>
      <p:sp>
        <p:nvSpPr>
          <p:cNvPr id="7" name="Возможность 1 текст"/>
          <p:cNvSpPr txBox="1"/>
          <p:nvPr/>
        </p:nvSpPr>
        <p:spPr>
          <a:xfrm>
            <a:off x="86868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Фото, цена, остаток и свободный остаток</a:t>
            </a:r>
            <a:endParaRPr lang="en-US" sz="1400" dirty="0"/>
          </a:p>
        </p:txBody>
      </p:sp>
      <p:sp>
        <p:nvSpPr>
          <p:cNvPr id="8" name="Возможность 2"/>
          <p:cNvSpPr/>
          <p:nvPr/>
        </p:nvSpPr>
        <p:spPr>
          <a:xfrm>
            <a:off x="3429000" y="155448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Возможность 2 круг"/>
          <p:cNvSpPr/>
          <p:nvPr/>
        </p:nvSpPr>
        <p:spPr>
          <a:xfrm>
            <a:off x="3657600" y="18288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Возможность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993392"/>
            <a:ext cx="356616" cy="356616"/>
          </a:xfrm>
          <a:prstGeom prst="rect">
            <a:avLst/>
          </a:prstGeom>
        </p:spPr>
      </p:pic>
      <p:sp>
        <p:nvSpPr>
          <p:cNvPr id="11" name="Возможность 2 заголовок"/>
          <p:cNvSpPr txBox="1"/>
          <p:nvPr/>
        </p:nvSpPr>
        <p:spPr>
          <a:xfrm>
            <a:off x="4453128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Цены с историей</a:t>
            </a:r>
            <a:endParaRPr lang="en-US" sz="1700" dirty="0"/>
          </a:p>
        </p:txBody>
      </p:sp>
      <p:sp>
        <p:nvSpPr>
          <p:cNvPr id="12" name="Возможность 2 текст"/>
          <p:cNvSpPr txBox="1"/>
          <p:nvPr/>
        </p:nvSpPr>
        <p:spPr>
          <a:xfrm>
            <a:off x="365760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Новая цена с нужной даты, прежние сохраняются</a:t>
            </a:r>
            <a:endParaRPr lang="en-US" sz="1400" dirty="0"/>
          </a:p>
        </p:txBody>
      </p:sp>
      <p:sp>
        <p:nvSpPr>
          <p:cNvPr id="13" name="Возможность 3"/>
          <p:cNvSpPr/>
          <p:nvPr/>
        </p:nvSpPr>
        <p:spPr>
          <a:xfrm>
            <a:off x="6217920" y="155448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Возможность 3 круг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Возможность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993392"/>
            <a:ext cx="356616" cy="356616"/>
          </a:xfrm>
          <a:prstGeom prst="rect">
            <a:avLst/>
          </a:prstGeom>
        </p:spPr>
      </p:pic>
      <p:sp>
        <p:nvSpPr>
          <p:cNvPr id="16" name="Возможность 3 заголовок"/>
          <p:cNvSpPr txBox="1"/>
          <p:nvPr/>
        </p:nvSpPr>
        <p:spPr>
          <a:xfrm>
            <a:off x="7242048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Поступления</a:t>
            </a:r>
            <a:endParaRPr lang="en-US" sz="1700" dirty="0"/>
          </a:p>
        </p:txBody>
      </p:sp>
      <p:sp>
        <p:nvSpPr>
          <p:cNvPr id="17" name="Возможность 3 текст"/>
          <p:cNvSpPr txBox="1"/>
          <p:nvPr/>
        </p:nvSpPr>
        <p:spPr>
          <a:xfrm>
            <a:off x="644652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Приход от поставщика — остаток растёт сам</a:t>
            </a:r>
            <a:endParaRPr lang="en-US" sz="1400" dirty="0"/>
          </a:p>
        </p:txBody>
      </p:sp>
      <p:sp>
        <p:nvSpPr>
          <p:cNvPr id="18" name="Возможность 4"/>
          <p:cNvSpPr/>
          <p:nvPr/>
        </p:nvSpPr>
        <p:spPr>
          <a:xfrm>
            <a:off x="9006840" y="155448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Возможность 4 круг"/>
          <p:cNvSpPr/>
          <p:nvPr/>
        </p:nvSpPr>
        <p:spPr>
          <a:xfrm>
            <a:off x="9235440" y="18288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Возможность 4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993392"/>
            <a:ext cx="356616" cy="356616"/>
          </a:xfrm>
          <a:prstGeom prst="rect">
            <a:avLst/>
          </a:prstGeom>
        </p:spPr>
      </p:pic>
      <p:sp>
        <p:nvSpPr>
          <p:cNvPr id="21" name="Возможность 4 заголовок"/>
          <p:cNvSpPr txBox="1"/>
          <p:nvPr/>
        </p:nvSpPr>
        <p:spPr>
          <a:xfrm>
            <a:off x="10030968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Продажи</a:t>
            </a:r>
            <a:endParaRPr lang="en-US" sz="1700" dirty="0"/>
          </a:p>
        </p:txBody>
      </p:sp>
      <p:sp>
        <p:nvSpPr>
          <p:cNvPr id="22" name="Возможность 4 текст"/>
          <p:cNvSpPr txBox="1"/>
          <p:nvPr/>
        </p:nvSpPr>
        <p:spPr>
          <a:xfrm>
            <a:off x="923544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Цена из прайса, контроль остатка и прибыль</a:t>
            </a:r>
            <a:endParaRPr lang="en-US" sz="1400" dirty="0"/>
          </a:p>
        </p:txBody>
      </p:sp>
      <p:sp>
        <p:nvSpPr>
          <p:cNvPr id="23" name="Возможность 5"/>
          <p:cNvSpPr/>
          <p:nvPr/>
        </p:nvSpPr>
        <p:spPr>
          <a:xfrm>
            <a:off x="640080" y="388620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Возможность 5 круг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5" name="Возможность 5 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325112"/>
            <a:ext cx="356616" cy="356616"/>
          </a:xfrm>
          <a:prstGeom prst="rect">
            <a:avLst/>
          </a:prstGeom>
        </p:spPr>
      </p:pic>
      <p:sp>
        <p:nvSpPr>
          <p:cNvPr id="26" name="Возможность 5 заголовок"/>
          <p:cNvSpPr txBox="1"/>
          <p:nvPr/>
        </p:nvSpPr>
        <p:spPr>
          <a:xfrm>
            <a:off x="1664208" y="4160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Бронирование</a:t>
            </a:r>
            <a:endParaRPr lang="en-US" sz="1700" dirty="0"/>
          </a:p>
        </p:txBody>
      </p:sp>
      <p:sp>
        <p:nvSpPr>
          <p:cNvPr id="27" name="Возможность 5 текст"/>
          <p:cNvSpPr txBox="1"/>
          <p:nvPr/>
        </p:nvSpPr>
        <p:spPr>
          <a:xfrm>
            <a:off x="868680" y="4983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Товар отложен за покупателем до выкупа</a:t>
            </a:r>
            <a:endParaRPr lang="en-US" sz="1400" dirty="0"/>
          </a:p>
        </p:txBody>
      </p:sp>
      <p:sp>
        <p:nvSpPr>
          <p:cNvPr id="28" name="Возможность 6"/>
          <p:cNvSpPr/>
          <p:nvPr/>
        </p:nvSpPr>
        <p:spPr>
          <a:xfrm>
            <a:off x="3429000" y="388620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Возможность 6 круг"/>
          <p:cNvSpPr/>
          <p:nvPr/>
        </p:nvSpPr>
        <p:spPr>
          <a:xfrm>
            <a:off x="3657600" y="4160520"/>
            <a:ext cx="685800" cy="6858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0" name="Возможность 6 иконка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4325112"/>
            <a:ext cx="356616" cy="356616"/>
          </a:xfrm>
          <a:prstGeom prst="rect">
            <a:avLst/>
          </a:prstGeom>
        </p:spPr>
      </p:pic>
      <p:sp>
        <p:nvSpPr>
          <p:cNvPr id="31" name="Возможность 6 заголовок"/>
          <p:cNvSpPr txBox="1"/>
          <p:nvPr/>
        </p:nvSpPr>
        <p:spPr>
          <a:xfrm>
            <a:off x="4453128" y="4160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Быстрый ввод</a:t>
            </a:r>
            <a:endParaRPr lang="en-US" sz="1700" dirty="0"/>
          </a:p>
        </p:txBody>
      </p:sp>
      <p:sp>
        <p:nvSpPr>
          <p:cNvPr id="32" name="Возможность 6 текст"/>
          <p:cNvSpPr txBox="1"/>
          <p:nvPr/>
        </p:nvSpPr>
        <p:spPr>
          <a:xfrm>
            <a:off x="3657600" y="4983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Подбор товаров и добавление по артикулу</a:t>
            </a:r>
            <a:endParaRPr lang="en-US" sz="1400" dirty="0"/>
          </a:p>
        </p:txBody>
      </p:sp>
      <p:sp>
        <p:nvSpPr>
          <p:cNvPr id="33" name="Возможность 7"/>
          <p:cNvSpPr/>
          <p:nvPr/>
        </p:nvSpPr>
        <p:spPr>
          <a:xfrm>
            <a:off x="6217920" y="388620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Возможность 7 круг"/>
          <p:cNvSpPr/>
          <p:nvPr/>
        </p:nvSpPr>
        <p:spPr>
          <a:xfrm>
            <a:off x="6446520" y="416052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Возможность 7 иконка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325112"/>
            <a:ext cx="356616" cy="356616"/>
          </a:xfrm>
          <a:prstGeom prst="rect">
            <a:avLst/>
          </a:prstGeom>
        </p:spPr>
      </p:pic>
      <p:sp>
        <p:nvSpPr>
          <p:cNvPr id="36" name="Возможность 7 заголовок"/>
          <p:cNvSpPr txBox="1"/>
          <p:nvPr/>
        </p:nvSpPr>
        <p:spPr>
          <a:xfrm>
            <a:off x="7242048" y="4160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Отчёты</a:t>
            </a:r>
            <a:endParaRPr lang="en-US" sz="1700" dirty="0"/>
          </a:p>
        </p:txBody>
      </p:sp>
      <p:sp>
        <p:nvSpPr>
          <p:cNvPr id="37" name="Возможность 7 текст"/>
          <p:cNvSpPr txBox="1"/>
          <p:nvPr/>
        </p:nvSpPr>
        <p:spPr>
          <a:xfrm>
            <a:off x="6446520" y="4983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Остатки, резерв, продажи и брони</a:t>
            </a:r>
            <a:endParaRPr lang="en-US" sz="1400" dirty="0"/>
          </a:p>
        </p:txBody>
      </p:sp>
      <p:sp>
        <p:nvSpPr>
          <p:cNvPr id="38" name="Возможность 8"/>
          <p:cNvSpPr/>
          <p:nvPr/>
        </p:nvSpPr>
        <p:spPr>
          <a:xfrm>
            <a:off x="9006840" y="388620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Возможность 8 круг"/>
          <p:cNvSpPr/>
          <p:nvPr/>
        </p:nvSpPr>
        <p:spPr>
          <a:xfrm>
            <a:off x="9235440" y="416052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0" name="Возможность 8 иконка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4325112"/>
            <a:ext cx="356616" cy="356616"/>
          </a:xfrm>
          <a:prstGeom prst="rect">
            <a:avLst/>
          </a:prstGeom>
        </p:spPr>
      </p:pic>
      <p:sp>
        <p:nvSpPr>
          <p:cNvPr id="41" name="Возможность 8 заголовок"/>
          <p:cNvSpPr txBox="1"/>
          <p:nvPr/>
        </p:nvSpPr>
        <p:spPr>
          <a:xfrm>
            <a:off x="10030968" y="4160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Печать</a:t>
            </a:r>
            <a:endParaRPr lang="en-US" sz="1700" dirty="0"/>
          </a:p>
        </p:txBody>
      </p:sp>
      <p:sp>
        <p:nvSpPr>
          <p:cNvPr id="42" name="Возможность 8 текст"/>
          <p:cNvSpPr txBox="1"/>
          <p:nvPr/>
        </p:nvSpPr>
        <p:spPr>
          <a:xfrm>
            <a:off x="9235440" y="4983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Накладные и бланк брони одной кнопкой</a:t>
            </a:r>
            <a:endParaRPr lang="en-US" sz="1400" dirty="0"/>
          </a:p>
        </p:txBody>
      </p:sp>
      <p:sp>
        <p:nvSpPr>
          <p:cNvPr id="43" name="Новое"/>
          <p:cNvSpPr txBox="1"/>
          <p:nvPr/>
        </p:nvSpPr>
        <p:spPr>
          <a:xfrm>
            <a:off x="6217920" y="5989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Новое в версии 1.1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Закупили → продали → заработали</a:t>
            </a:r>
            <a:endParaRPr lang="en-US" sz="3600" dirty="0"/>
          </a:p>
        </p:txBody>
      </p:sp>
      <p:sp>
        <p:nvSpPr>
          <p:cNvPr id="3" name="Шаг 1 номер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Шаг 1 цифра"/>
          <p:cNvSpPr txBox="1"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Шаг 1 заголовок"/>
          <p:cNvSpPr txBox="1"/>
          <p:nvPr/>
        </p:nvSpPr>
        <p:spPr>
          <a:xfrm>
            <a:off x="141732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Закупщик оформляет поступление</a:t>
            </a:r>
            <a:endParaRPr lang="en-US" sz="1700" dirty="0"/>
          </a:p>
        </p:txBody>
      </p:sp>
      <p:sp>
        <p:nvSpPr>
          <p:cNvPr id="6" name="Шаг 1 скриншот рамка"/>
          <p:cNvSpPr/>
          <p:nvPr/>
        </p:nvSpPr>
        <p:spPr>
          <a:xfrm>
            <a:off x="640080" y="2441448"/>
            <a:ext cx="3438144" cy="2160136"/>
          </a:xfrm>
          <a:prstGeom prst="roundRect">
            <a:avLst>
              <a:gd name="adj" fmla="val 50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7" name="Шаг 1 скриншот" descr="C:\Study\University\Repos\ProjectsControl\Project-1\_work\cheatsheets\src\img\ru_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14600"/>
            <a:ext cx="3291840" cy="2013832"/>
          </a:xfrm>
          <a:prstGeom prst="rect">
            <a:avLst/>
          </a:prstGeom>
        </p:spPr>
      </p:pic>
      <p:sp>
        <p:nvSpPr>
          <p:cNvPr id="8" name="Шаг 1 текст"/>
          <p:cNvSpPr txBox="1"/>
          <p:nvPr/>
        </p:nvSpPr>
        <p:spPr>
          <a:xfrm>
            <a:off x="640080" y="4802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Товар появляется на складе</a:t>
            </a:r>
            <a:endParaRPr lang="en-US" sz="1600" dirty="0"/>
          </a:p>
        </p:txBody>
      </p:sp>
      <p:pic>
        <p:nvPicPr>
          <p:cNvPr id="9" name="Стрелка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3246120"/>
            <a:ext cx="256032" cy="365760"/>
          </a:xfrm>
          <a:prstGeom prst="rect">
            <a:avLst/>
          </a:prstGeom>
        </p:spPr>
      </p:pic>
      <p:sp>
        <p:nvSpPr>
          <p:cNvPr id="10" name="Шаг 2 номер"/>
          <p:cNvSpPr/>
          <p:nvPr/>
        </p:nvSpPr>
        <p:spPr>
          <a:xfrm>
            <a:off x="443484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Шаг 2 цифра"/>
          <p:cNvSpPr txBox="1"/>
          <p:nvPr/>
        </p:nvSpPr>
        <p:spPr>
          <a:xfrm>
            <a:off x="44348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Шаг 2 заголовок"/>
          <p:cNvSpPr txBox="1"/>
          <p:nvPr/>
        </p:nvSpPr>
        <p:spPr>
          <a:xfrm>
            <a:off x="521208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Продавец оформляет продажу</a:t>
            </a:r>
            <a:endParaRPr lang="en-US" sz="1700" dirty="0"/>
          </a:p>
        </p:txBody>
      </p:sp>
      <p:sp>
        <p:nvSpPr>
          <p:cNvPr id="13" name="Шаг 2 скриншот рамка"/>
          <p:cNvSpPr/>
          <p:nvPr/>
        </p:nvSpPr>
        <p:spPr>
          <a:xfrm>
            <a:off x="4434840" y="2441448"/>
            <a:ext cx="3438144" cy="2160136"/>
          </a:xfrm>
          <a:prstGeom prst="roundRect">
            <a:avLst>
              <a:gd name="adj" fmla="val 50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14" name="Шаг 2 скриншот" descr="C:\Study\University\Repos\ProjectsControl\Project-1\_work\cheatsheets\src\img\ru_s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514600"/>
            <a:ext cx="3291840" cy="2013832"/>
          </a:xfrm>
          <a:prstGeom prst="rect">
            <a:avLst/>
          </a:prstGeom>
        </p:spPr>
      </p:pic>
      <p:sp>
        <p:nvSpPr>
          <p:cNvPr id="15" name="Шаг 2 текст"/>
          <p:cNvSpPr txBox="1"/>
          <p:nvPr/>
        </p:nvSpPr>
        <p:spPr>
          <a:xfrm>
            <a:off x="4434840" y="4802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Цена уже заполнена, фото и свободный остаток видны</a:t>
            </a:r>
            <a:endParaRPr lang="en-US" sz="1600" dirty="0"/>
          </a:p>
        </p:txBody>
      </p:sp>
      <p:pic>
        <p:nvPicPr>
          <p:cNvPr id="16" name="Стрелка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3246120"/>
            <a:ext cx="256032" cy="365760"/>
          </a:xfrm>
          <a:prstGeom prst="rect">
            <a:avLst/>
          </a:prstGeom>
        </p:spPr>
      </p:pic>
      <p:sp>
        <p:nvSpPr>
          <p:cNvPr id="17" name="Шаг 3 номер"/>
          <p:cNvSpPr/>
          <p:nvPr/>
        </p:nvSpPr>
        <p:spPr>
          <a:xfrm>
            <a:off x="822960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Шаг 3 цифра"/>
          <p:cNvSpPr txBox="1"/>
          <p:nvPr/>
        </p:nvSpPr>
        <p:spPr>
          <a:xfrm>
            <a:off x="82296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Шаг 3 заголовок"/>
          <p:cNvSpPr txBox="1"/>
          <p:nvPr/>
        </p:nvSpPr>
        <p:spPr>
          <a:xfrm>
            <a:off x="900684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Руководитель смотрит отчёт</a:t>
            </a:r>
            <a:endParaRPr lang="en-US" sz="1700" dirty="0"/>
          </a:p>
        </p:txBody>
      </p:sp>
      <p:sp>
        <p:nvSpPr>
          <p:cNvPr id="20" name="Шаг 3 скриншот рамка"/>
          <p:cNvSpPr/>
          <p:nvPr/>
        </p:nvSpPr>
        <p:spPr>
          <a:xfrm>
            <a:off x="8229600" y="2441448"/>
            <a:ext cx="3438144" cy="2160136"/>
          </a:xfrm>
          <a:prstGeom prst="roundRect">
            <a:avLst>
              <a:gd name="adj" fmla="val 50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21" name="Шаг 3 скриншот" descr="C:\Study\University\Repos\ProjectsControl\Project-1\_work\cheatsheets\src\img\ru_report_sa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514600"/>
            <a:ext cx="3291840" cy="2013832"/>
          </a:xfrm>
          <a:prstGeom prst="rect">
            <a:avLst/>
          </a:prstGeom>
        </p:spPr>
      </p:pic>
      <p:sp>
        <p:nvSpPr>
          <p:cNvPr id="22" name="Шаг 3 текст"/>
          <p:cNvSpPr txBox="1"/>
          <p:nvPr/>
        </p:nvSpPr>
        <p:spPr>
          <a:xfrm>
            <a:off x="8229600" y="4802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Выручка, себестоимость и прибыль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Бронь: товар ждёт своего покупателя</a:t>
            </a:r>
            <a:endParaRPr lang="en-US" sz="3600" dirty="0"/>
          </a:p>
        </p:txBody>
      </p:sp>
      <p:sp>
        <p:nvSpPr>
          <p:cNvPr id="3" name="Бронь 1 круг"/>
          <p:cNvSpPr/>
          <p:nvPr/>
        </p:nvSpPr>
        <p:spPr>
          <a:xfrm>
            <a:off x="640080" y="1645920"/>
            <a:ext cx="777240" cy="7772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4" name="Бронь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832458"/>
            <a:ext cx="404165" cy="404165"/>
          </a:xfrm>
          <a:prstGeom prst="rect">
            <a:avLst/>
          </a:prstGeom>
        </p:spPr>
      </p:pic>
      <p:sp>
        <p:nvSpPr>
          <p:cNvPr id="5" name="Бронь 1 текст"/>
          <p:cNvSpPr txBox="1"/>
          <p:nvPr/>
        </p:nvSpPr>
        <p:spPr>
          <a:xfrm>
            <a:off x="1600200" y="1600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Забронировали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товар ушёл из свободного остатка — другому его не продать</a:t>
            </a:r>
            <a:endParaRPr lang="en-US" sz="2100" dirty="0"/>
          </a:p>
        </p:txBody>
      </p:sp>
      <p:sp>
        <p:nvSpPr>
          <p:cNvPr id="6" name="Бронь 2 круг"/>
          <p:cNvSpPr/>
          <p:nvPr/>
        </p:nvSpPr>
        <p:spPr>
          <a:xfrm>
            <a:off x="640080" y="297180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Бронь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3158338"/>
            <a:ext cx="404165" cy="404165"/>
          </a:xfrm>
          <a:prstGeom prst="rect">
            <a:avLst/>
          </a:prstGeom>
        </p:spPr>
      </p:pic>
      <p:sp>
        <p:nvSpPr>
          <p:cNvPr id="8" name="Бронь 2 текст"/>
          <p:cNvSpPr txBox="1"/>
          <p:nvPr/>
        </p:nvSpPr>
        <p:spPr>
          <a:xfrm>
            <a:off x="160020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Продали по брони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продажа заполняется из брони, товар списан со склада</a:t>
            </a:r>
            <a:endParaRPr lang="en-US" sz="2100" dirty="0"/>
          </a:p>
        </p:txBody>
      </p:sp>
      <p:sp>
        <p:nvSpPr>
          <p:cNvPr id="9" name="Бронь 3 круг"/>
          <p:cNvSpPr/>
          <p:nvPr/>
        </p:nvSpPr>
        <p:spPr>
          <a:xfrm>
            <a:off x="640080" y="42976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Бронь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4484218"/>
            <a:ext cx="404165" cy="404165"/>
          </a:xfrm>
          <a:prstGeom prst="rect">
            <a:avLst/>
          </a:prstGeom>
        </p:spPr>
      </p:pic>
      <p:sp>
        <p:nvSpPr>
          <p:cNvPr id="11" name="Бронь 3 текст"/>
          <p:cNvSpPr txBox="1"/>
          <p:nvPr/>
        </p:nvSpPr>
        <p:spPr>
          <a:xfrm>
            <a:off x="1600200" y="4251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Отменили бронь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товар вернулся в свободный остаток и снова в продаже</a:t>
            </a:r>
            <a:endParaRPr lang="en-US" sz="2100" dirty="0"/>
          </a:p>
        </p:txBody>
      </p:sp>
      <p:sp>
        <p:nvSpPr>
          <p:cNvPr id="12" name="Формула"/>
          <p:cNvSpPr txBox="1"/>
          <p:nvPr/>
        </p:nvSpPr>
        <p:spPr>
          <a:xfrm>
            <a:off x="640080" y="5669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Свободно = на складе − в резерве</a:t>
            </a:r>
            <a:endParaRPr lang="en-US" sz="1800" dirty="0"/>
          </a:p>
        </p:txBody>
      </p:sp>
      <p:sp>
        <p:nvSpPr>
          <p:cNvPr id="13" name="Список броней рамка"/>
          <p:cNvSpPr/>
          <p:nvPr/>
        </p:nvSpPr>
        <p:spPr>
          <a:xfrm>
            <a:off x="5824728" y="1527048"/>
            <a:ext cx="5815584" cy="3614569"/>
          </a:xfrm>
          <a:prstGeom prst="roundRect">
            <a:avLst>
              <a:gd name="adj" fmla="val 30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14" name="Список броней" descr="C:\Study\University\Repos\ProjectsControl\Project-1\_work\cheatsheets\src\img\ru_book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600200"/>
            <a:ext cx="5669280" cy="3468265"/>
          </a:xfrm>
          <a:prstGeom prst="rect">
            <a:avLst/>
          </a:prstGeom>
        </p:spPr>
      </p:pic>
      <p:sp>
        <p:nvSpPr>
          <p:cNvPr id="15" name="Подпись брони"/>
          <p:cNvSpPr txBox="1"/>
          <p:nvPr/>
        </p:nvSpPr>
        <p:spPr>
          <a:xfrm>
            <a:off x="5897880" y="5251345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Состояние каждой брони видно сразу: просроченные — красным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Продажа за пару кликов</a:t>
            </a:r>
            <a:endParaRPr lang="en-US" sz="3600" dirty="0"/>
          </a:p>
        </p:txBody>
      </p:sp>
      <p:sp>
        <p:nvSpPr>
          <p:cNvPr id="3" name="Подбор товаров рамка"/>
          <p:cNvSpPr/>
          <p:nvPr/>
        </p:nvSpPr>
        <p:spPr>
          <a:xfrm>
            <a:off x="640080" y="1527048"/>
            <a:ext cx="6821424" cy="4229907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4" name="Подбор товаров" descr="C:\Study\University\Repos\ProjectsControl\Project-1\_work\cheatsheets\src\img\ru_p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00200"/>
            <a:ext cx="6675120" cy="4083603"/>
          </a:xfrm>
          <a:prstGeom prst="rect">
            <a:avLst/>
          </a:prstGeom>
        </p:spPr>
      </p:pic>
      <p:sp>
        <p:nvSpPr>
          <p:cNvPr id="5" name="Подпись подбор"/>
          <p:cNvSpPr txBox="1"/>
          <p:nvPr/>
        </p:nvSpPr>
        <p:spPr>
          <a:xfrm>
            <a:off x="640080" y="5884971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Подбор: количество прямо в списке, поиск по мере ввода, фото товара</a:t>
            </a:r>
            <a:endParaRPr lang="en-US" sz="1400" dirty="0"/>
          </a:p>
        </p:txBody>
      </p:sp>
      <p:sp>
        <p:nvSpPr>
          <p:cNvPr id="6" name="Удобство 1 круг"/>
          <p:cNvSpPr/>
          <p:nvPr/>
        </p:nvSpPr>
        <p:spPr>
          <a:xfrm>
            <a:off x="7818120" y="16002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Удобство 1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764792"/>
            <a:ext cx="356616" cy="356616"/>
          </a:xfrm>
          <a:prstGeom prst="rect">
            <a:avLst/>
          </a:prstGeom>
        </p:spPr>
      </p:pic>
      <p:sp>
        <p:nvSpPr>
          <p:cNvPr id="8" name="Удобство 1 текст"/>
          <p:cNvSpPr txBox="1"/>
          <p:nvPr/>
        </p:nvSpPr>
        <p:spPr>
          <a:xfrm>
            <a:off x="864108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Подбор товаров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сразу несколько позиций</a:t>
            </a:r>
            <a:endParaRPr lang="en-US" sz="1800" dirty="0"/>
          </a:p>
        </p:txBody>
      </p:sp>
      <p:sp>
        <p:nvSpPr>
          <p:cNvPr id="9" name="Удобство 2 круг"/>
          <p:cNvSpPr/>
          <p:nvPr/>
        </p:nvSpPr>
        <p:spPr>
          <a:xfrm>
            <a:off x="7818120" y="2679192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Удобство 2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43784"/>
            <a:ext cx="356616" cy="356616"/>
          </a:xfrm>
          <a:prstGeom prst="rect">
            <a:avLst/>
          </a:prstGeom>
        </p:spPr>
      </p:pic>
      <p:sp>
        <p:nvSpPr>
          <p:cNvPr id="11" name="Удобство 2 текст"/>
          <p:cNvSpPr txBox="1"/>
          <p:nvPr/>
        </p:nvSpPr>
        <p:spPr>
          <a:xfrm>
            <a:off x="8641080" y="26334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Ввод по артикулу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ввёл артикул — нажал Enter</a:t>
            </a:r>
            <a:endParaRPr lang="en-US" sz="1800" dirty="0"/>
          </a:p>
        </p:txBody>
      </p:sp>
      <p:sp>
        <p:nvSpPr>
          <p:cNvPr id="12" name="Удобство 3 круг"/>
          <p:cNvSpPr/>
          <p:nvPr/>
        </p:nvSpPr>
        <p:spPr>
          <a:xfrm>
            <a:off x="7818120" y="3758184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Удобство 3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922776"/>
            <a:ext cx="356616" cy="356616"/>
          </a:xfrm>
          <a:prstGeom prst="rect">
            <a:avLst/>
          </a:prstGeom>
        </p:spPr>
      </p:pic>
      <p:sp>
        <p:nvSpPr>
          <p:cNvPr id="14" name="Удобство 3 текст"/>
          <p:cNvSpPr txBox="1"/>
          <p:nvPr/>
        </p:nvSpPr>
        <p:spPr>
          <a:xfrm>
            <a:off x="8641080" y="37124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Подсказка о брони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одна ссылка заполнит продажу</a:t>
            </a:r>
            <a:endParaRPr lang="en-US" sz="1800" dirty="0"/>
          </a:p>
        </p:txBody>
      </p:sp>
      <p:sp>
        <p:nvSpPr>
          <p:cNvPr id="15" name="Удобство 4 круг"/>
          <p:cNvSpPr/>
          <p:nvPr/>
        </p:nvSpPr>
        <p:spPr>
          <a:xfrm>
            <a:off x="7818120" y="4837176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6" name="Удобство 4 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5001768"/>
            <a:ext cx="356616" cy="356616"/>
          </a:xfrm>
          <a:prstGeom prst="rect">
            <a:avLst/>
          </a:prstGeom>
        </p:spPr>
      </p:pic>
      <p:sp>
        <p:nvSpPr>
          <p:cNvPr id="17" name="Удобство 4 текст"/>
          <p:cNvSpPr txBox="1"/>
          <p:nvPr/>
        </p:nvSpPr>
        <p:spPr>
          <a:xfrm>
            <a:off x="8641080" y="47914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Дозаказ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всё, что заканчивается, — в поступление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Товар видно с первого взгляда</a:t>
            </a:r>
            <a:endParaRPr lang="en-US" sz="3600" dirty="0"/>
          </a:p>
        </p:txBody>
      </p:sp>
      <p:sp>
        <p:nvSpPr>
          <p:cNvPr id="3" name="Карточка товара рамка"/>
          <p:cNvSpPr/>
          <p:nvPr/>
        </p:nvSpPr>
        <p:spPr>
          <a:xfrm>
            <a:off x="640080" y="1527048"/>
            <a:ext cx="6089904" cy="378238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4" name="Карточка товара" descr="C:\Study\University\Repos\ProjectsControl\Project-1\_work\cheatsheets\src\img\ru_i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00200"/>
            <a:ext cx="5943600" cy="3636085"/>
          </a:xfrm>
          <a:prstGeom prst="rect">
            <a:avLst/>
          </a:prstGeom>
        </p:spPr>
      </p:pic>
      <p:sp>
        <p:nvSpPr>
          <p:cNvPr id="5" name="Подпись карточка"/>
          <p:cNvSpPr txBox="1"/>
          <p:nvPr/>
        </p:nvSpPr>
        <p:spPr>
          <a:xfrm>
            <a:off x="640080" y="5437453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Фото, цена и остаток — прямо в карточке товара</a:t>
            </a:r>
            <a:endParaRPr lang="en-US" sz="1500" dirty="0"/>
          </a:p>
        </p:txBody>
      </p:sp>
      <p:sp>
        <p:nvSpPr>
          <p:cNvPr id="6" name="Фото 1 рамка"/>
          <p:cNvSpPr/>
          <p:nvPr/>
        </p:nvSpPr>
        <p:spPr>
          <a:xfrm>
            <a:off x="6912864" y="1563624"/>
            <a:ext cx="2313432" cy="1746504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7" name="Фото 1" descr="C:\Study\University\Repos\ProjectsControl\Project-1\_work\generator\src\photos\VM-SP-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2240280" cy="1682496"/>
          </a:xfrm>
          <a:prstGeom prst="rect">
            <a:avLst/>
          </a:prstGeom>
        </p:spPr>
      </p:pic>
      <p:sp>
        <p:nvSpPr>
          <p:cNvPr id="8" name="Фото 2 рамка"/>
          <p:cNvSpPr/>
          <p:nvPr/>
        </p:nvSpPr>
        <p:spPr>
          <a:xfrm>
            <a:off x="9317736" y="1563624"/>
            <a:ext cx="2313432" cy="1746504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9" name="Фото 2" descr="C:\Study\University\Repos\ProjectsControl\Project-1\_work\generator\src\photos\VM-NB-0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2" y="1600200"/>
            <a:ext cx="2240280" cy="1682496"/>
          </a:xfrm>
          <a:prstGeom prst="rect">
            <a:avLst/>
          </a:prstGeom>
        </p:spPr>
      </p:pic>
      <p:sp>
        <p:nvSpPr>
          <p:cNvPr id="10" name="Фото 3 рамка"/>
          <p:cNvSpPr/>
          <p:nvPr/>
        </p:nvSpPr>
        <p:spPr>
          <a:xfrm>
            <a:off x="6912864" y="3438144"/>
            <a:ext cx="2313432" cy="1746504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11" name="Фото 3" descr="C:\Study\University\Repos\ProjectsControl\Project-1\_work\generator\src\photos\VM-AU-0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474720"/>
            <a:ext cx="2240280" cy="1682496"/>
          </a:xfrm>
          <a:prstGeom prst="rect">
            <a:avLst/>
          </a:prstGeom>
        </p:spPr>
      </p:pic>
      <p:sp>
        <p:nvSpPr>
          <p:cNvPr id="12" name="Фото 4 рамка"/>
          <p:cNvSpPr/>
          <p:nvPr/>
        </p:nvSpPr>
        <p:spPr>
          <a:xfrm>
            <a:off x="9317736" y="3438144"/>
            <a:ext cx="2313432" cy="1746504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13" name="Фото 4" descr="C:\Study\University\Repos\ProjectsControl\Project-1\_work\generator\src\photos\VM-TV-0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2" y="3474720"/>
            <a:ext cx="2240280" cy="1682496"/>
          </a:xfrm>
          <a:prstGeom prst="rect">
            <a:avLst/>
          </a:prstGeom>
        </p:spPr>
      </p:pic>
      <p:sp>
        <p:nvSpPr>
          <p:cNvPr id="14" name="Подпись фото"/>
          <p:cNvSpPr txBox="1"/>
          <p:nvPr/>
        </p:nvSpPr>
        <p:spPr>
          <a:xfrm>
            <a:off x="6949440" y="5437453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17 товаров — у каждого своя фотография в едином стиле</a:t>
            </a:r>
            <a:endParaRPr lang="en-US" sz="1500" dirty="0"/>
          </a:p>
        </p:txBody>
      </p:sp>
      <p:sp>
        <p:nvSpPr>
          <p:cNvPr id="15" name="Стиль"/>
          <p:cNvSpPr txBox="1"/>
          <p:nvPr/>
        </p:nvSpPr>
        <p:spPr>
          <a:xfrm>
            <a:off x="640080" y="58704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Единый фирменный стиль: тёмно-синий, голубой и янтарная молния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Каждому — своё, и никаких ошибок</a:t>
            </a:r>
            <a:endParaRPr lang="en-US" sz="3600" dirty="0"/>
          </a:p>
        </p:txBody>
      </p:sp>
      <p:sp>
        <p:nvSpPr>
          <p:cNvPr id="3" name="Роль 1 круг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" name="Роль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43430"/>
            <a:ext cx="427939" cy="427939"/>
          </a:xfrm>
          <a:prstGeom prst="rect">
            <a:avLst/>
          </a:prstGeom>
        </p:spPr>
      </p:pic>
      <p:sp>
        <p:nvSpPr>
          <p:cNvPr id="5" name="Роль 1 текст"/>
          <p:cNvSpPr txBox="1"/>
          <p:nvPr/>
        </p:nvSpPr>
        <p:spPr>
          <a:xfrm>
            <a:off x="169164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Закупщик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каталог, поставщики, поступления</a:t>
            </a:r>
            <a:endParaRPr lang="en-US" sz="2200" dirty="0"/>
          </a:p>
        </p:txBody>
      </p:sp>
      <p:sp>
        <p:nvSpPr>
          <p:cNvPr id="6" name="Роль 2 круг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Роль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3215030"/>
            <a:ext cx="427939" cy="427939"/>
          </a:xfrm>
          <a:prstGeom prst="rect">
            <a:avLst/>
          </a:prstGeom>
        </p:spPr>
      </p:pic>
      <p:sp>
        <p:nvSpPr>
          <p:cNvPr id="8" name="Роль 2 текст"/>
          <p:cNvSpPr txBox="1"/>
          <p:nvPr/>
        </p:nvSpPr>
        <p:spPr>
          <a:xfrm>
            <a:off x="169164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Продавец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покупатели, цены, брони, продажи</a:t>
            </a:r>
            <a:endParaRPr lang="en-US" sz="2200" dirty="0"/>
          </a:p>
        </p:txBody>
      </p:sp>
      <p:sp>
        <p:nvSpPr>
          <p:cNvPr id="9" name="Роль 3 круг"/>
          <p:cNvSpPr/>
          <p:nvPr/>
        </p:nvSpPr>
        <p:spPr>
          <a:xfrm>
            <a:off x="640080" y="43891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Роль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586630"/>
            <a:ext cx="427939" cy="427939"/>
          </a:xfrm>
          <a:prstGeom prst="rect">
            <a:avLst/>
          </a:prstGeom>
        </p:spPr>
      </p:pic>
      <p:sp>
        <p:nvSpPr>
          <p:cNvPr id="11" name="Роль 3 текст"/>
          <p:cNvSpPr txBox="1"/>
          <p:nvPr/>
        </p:nvSpPr>
        <p:spPr>
          <a:xfrm>
            <a:off x="169164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Администратор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всё, плюс пользователи и права</a:t>
            </a:r>
            <a:endParaRPr lang="en-US" sz="2200" dirty="0"/>
          </a:p>
        </p:txBody>
      </p:sp>
      <p:sp>
        <p:nvSpPr>
          <p:cNvPr id="12" name="Защита"/>
          <p:cNvSpPr/>
          <p:nvPr/>
        </p:nvSpPr>
        <p:spPr>
          <a:xfrm>
            <a:off x="6035040" y="1645920"/>
            <a:ext cx="5486400" cy="3429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Защита круг"/>
          <p:cNvSpPr/>
          <p:nvPr/>
        </p:nvSpPr>
        <p:spPr>
          <a:xfrm>
            <a:off x="6355080" y="1920240"/>
            <a:ext cx="822960" cy="82296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pic>
        <p:nvPicPr>
          <p:cNvPr id="14" name="Защита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2117750"/>
            <a:ext cx="427939" cy="427939"/>
          </a:xfrm>
          <a:prstGeom prst="rect">
            <a:avLst/>
          </a:prstGeom>
        </p:spPr>
      </p:pic>
      <p:sp>
        <p:nvSpPr>
          <p:cNvPr id="15" name="Защита заголовок"/>
          <p:cNvSpPr txBox="1"/>
          <p:nvPr/>
        </p:nvSpPr>
        <p:spPr>
          <a:xfrm>
            <a:off x="7360920" y="1920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Защита от ошибок</a:t>
            </a:r>
            <a:endParaRPr lang="en-US" sz="2400" dirty="0"/>
          </a:p>
        </p:txBody>
      </p:sp>
      <p:sp>
        <p:nvSpPr>
          <p:cNvPr id="16" name="Защита список"/>
          <p:cNvSpPr txBox="1"/>
          <p:nvPr/>
        </p:nvSpPr>
        <p:spPr>
          <a:xfrm>
            <a:off x="6355080" y="28803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Нельзя продать больше, чем есть на складе — система покажет остаток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Забронированный товар не продадут другому покупателю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Обязательные поля проверяются перед проведением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Два продавца не продадут один последний товар одновременно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Готов к работе с первого запуска</a:t>
            </a:r>
            <a:endParaRPr lang="en-US" sz="3600" dirty="0"/>
          </a:p>
        </p:txBody>
      </p:sp>
      <p:sp>
        <p:nvSpPr>
          <p:cNvPr id="3" name="Показатель 1"/>
          <p:cNvSpPr/>
          <p:nvPr/>
        </p:nvSpPr>
        <p:spPr>
          <a:xfrm>
            <a:off x="640080" y="1600200"/>
            <a:ext cx="25603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Показатель 1 число"/>
          <p:cNvSpPr txBox="1"/>
          <p:nvPr/>
        </p:nvSpPr>
        <p:spPr>
          <a:xfrm>
            <a:off x="6400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17</a:t>
            </a:r>
            <a:endParaRPr lang="en-US" sz="6000" dirty="0"/>
          </a:p>
        </p:txBody>
      </p:sp>
      <p:sp>
        <p:nvSpPr>
          <p:cNvPr id="5" name="Показатель 1 подпись"/>
          <p:cNvSpPr txBox="1"/>
          <p:nvPr/>
        </p:nvSpPr>
        <p:spPr>
          <a:xfrm>
            <a:off x="6400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товаров с фото</a:t>
            </a:r>
            <a:endParaRPr lang="en-US" sz="1600" dirty="0"/>
          </a:p>
        </p:txBody>
      </p:sp>
      <p:sp>
        <p:nvSpPr>
          <p:cNvPr id="6" name="Показатель 2"/>
          <p:cNvSpPr/>
          <p:nvPr/>
        </p:nvSpPr>
        <p:spPr>
          <a:xfrm>
            <a:off x="3429000" y="1600200"/>
            <a:ext cx="25603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Показатель 2 число"/>
          <p:cNvSpPr txBox="1"/>
          <p:nvPr/>
        </p:nvSpPr>
        <p:spPr>
          <a:xfrm>
            <a:off x="342900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</a:t>
            </a:r>
            <a:endParaRPr lang="en-US" sz="6000" dirty="0"/>
          </a:p>
        </p:txBody>
      </p:sp>
      <p:sp>
        <p:nvSpPr>
          <p:cNvPr id="8" name="Показатель 2 подпись"/>
          <p:cNvSpPr txBox="1"/>
          <p:nvPr/>
        </p:nvSpPr>
        <p:spPr>
          <a:xfrm>
            <a:off x="34290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разделов</a:t>
            </a:r>
            <a:endParaRPr lang="en-US" sz="1600" dirty="0"/>
          </a:p>
        </p:txBody>
      </p:sp>
      <p:sp>
        <p:nvSpPr>
          <p:cNvPr id="9" name="Показатель 3"/>
          <p:cNvSpPr/>
          <p:nvPr/>
        </p:nvSpPr>
        <p:spPr>
          <a:xfrm>
            <a:off x="640080" y="3703320"/>
            <a:ext cx="25603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Показатель 3 число"/>
          <p:cNvSpPr txBox="1"/>
          <p:nvPr/>
        </p:nvSpPr>
        <p:spPr>
          <a:xfrm>
            <a:off x="64008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endParaRPr lang="en-US" sz="6000" dirty="0"/>
          </a:p>
        </p:txBody>
      </p:sp>
      <p:sp>
        <p:nvSpPr>
          <p:cNvPr id="11" name="Показатель 3 подпись"/>
          <p:cNvSpPr txBox="1"/>
          <p:nvPr/>
        </p:nvSpPr>
        <p:spPr>
          <a:xfrm>
            <a:off x="640080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роли</a:t>
            </a:r>
            <a:endParaRPr lang="en-US" sz="1600" dirty="0"/>
          </a:p>
        </p:txBody>
      </p:sp>
      <p:sp>
        <p:nvSpPr>
          <p:cNvPr id="12" name="Показатель 4"/>
          <p:cNvSpPr/>
          <p:nvPr/>
        </p:nvSpPr>
        <p:spPr>
          <a:xfrm>
            <a:off x="3429000" y="3703320"/>
            <a:ext cx="25603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Показатель 4 число"/>
          <p:cNvSpPr txBox="1"/>
          <p:nvPr/>
        </p:nvSpPr>
        <p:spPr>
          <a:xfrm>
            <a:off x="342900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</a:t>
            </a:r>
            <a:endParaRPr lang="en-US" sz="6000" dirty="0"/>
          </a:p>
        </p:txBody>
      </p:sp>
      <p:sp>
        <p:nvSpPr>
          <p:cNvPr id="14" name="Показатель 4 подпись"/>
          <p:cNvSpPr txBox="1"/>
          <p:nvPr/>
        </p:nvSpPr>
        <p:spPr>
          <a:xfrm>
            <a:off x="3429000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языка интерфейса</a:t>
            </a:r>
            <a:endParaRPr lang="en-US" sz="1600" dirty="0"/>
          </a:p>
        </p:txBody>
      </p:sp>
      <p:sp>
        <p:nvSpPr>
          <p:cNvPr id="15" name="Китайский интерфейс рамка"/>
          <p:cNvSpPr/>
          <p:nvPr/>
        </p:nvSpPr>
        <p:spPr>
          <a:xfrm>
            <a:off x="6327648" y="1527048"/>
            <a:ext cx="5312664" cy="3306901"/>
          </a:xfrm>
          <a:prstGeom prst="roundRect">
            <a:avLst>
              <a:gd name="adj" fmla="val 331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25000"/>
              </a:srgbClr>
            </a:outerShdw>
          </a:effectLst>
        </p:spPr>
      </p:sp>
      <p:pic>
        <p:nvPicPr>
          <p:cNvPr id="16" name="Китайский интерфейс" descr="C:\Study\University\Repos\ProjectsControl\Project-1\_work\cheatsheets\src\img\z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166360" cy="3160597"/>
          </a:xfrm>
          <a:prstGeom prst="rect">
            <a:avLst/>
          </a:prstGeom>
        </p:spPr>
      </p:pic>
      <p:sp>
        <p:nvSpPr>
          <p:cNvPr id="17" name="Подпись китайский"/>
          <p:cNvSpPr txBox="1"/>
          <p:nvPr/>
        </p:nvSpPr>
        <p:spPr>
          <a:xfrm>
            <a:off x="6400800" y="4989397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Говорит по-китайски: </a:t>
            </a:r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伏特商城 VoltMarket</a:t>
            </a:r>
            <a:endParaRPr lang="en-US" sz="1700" dirty="0"/>
          </a:p>
        </p:txBody>
      </p:sp>
      <p:sp>
        <p:nvSpPr>
          <p:cNvPr id="18" name="Демо"/>
          <p:cNvSpPr txBox="1"/>
          <p:nvPr/>
        </p:nvSpPr>
        <p:spPr>
          <a:xfrm>
            <a:off x="640080" y="58521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В базе уже есть товары, покупатели, цены, документы и брони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" descr="C:\Study\University\Repos\ProjectsControl\Project-1\_work\generator\src\pictur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4023360" cy="10058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Спасибо!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ВольтМаркет — учёт, который заряжает ваш магазин</a:t>
            </a:r>
            <a:endParaRPr lang="en-US" sz="2200" dirty="0"/>
          </a:p>
        </p:txBody>
      </p:sp>
      <p:sp>
        <p:nvSpPr>
          <p:cNvPr id="5" name="Попробуйте"/>
          <p:cNvSpPr/>
          <p:nvPr/>
        </p:nvSpPr>
        <p:spPr>
          <a:xfrm>
            <a:off x="6949440" y="2011680"/>
            <a:ext cx="4572000" cy="2423160"/>
          </a:xfrm>
          <a:prstGeom prst="roundRect">
            <a:avLst>
              <a:gd name="adj" fmla="val 5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Попробуйте круг"/>
          <p:cNvSpPr/>
          <p:nvPr/>
        </p:nvSpPr>
        <p:spPr>
          <a:xfrm>
            <a:off x="7269480" y="2286000"/>
            <a:ext cx="822960" cy="822960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pic>
        <p:nvPicPr>
          <p:cNvPr id="7" name="Попробуйте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990" y="2483510"/>
            <a:ext cx="427939" cy="427939"/>
          </a:xfrm>
          <a:prstGeom prst="rect">
            <a:avLst/>
          </a:prstGeom>
        </p:spPr>
      </p:pic>
      <p:sp>
        <p:nvSpPr>
          <p:cNvPr id="8" name="Попробуйте заголовок"/>
          <p:cNvSpPr txBox="1"/>
          <p:nvPr/>
        </p:nvSpPr>
        <p:spPr>
          <a:xfrm>
            <a:off x="827532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Попробуйте сами</a:t>
            </a:r>
            <a:endParaRPr lang="en-US" sz="2400" dirty="0"/>
          </a:p>
        </p:txBody>
      </p:sp>
      <p:sp>
        <p:nvSpPr>
          <p:cNvPr id="9" name="Попробуйте текст"/>
          <p:cNvSpPr txBox="1"/>
          <p:nvPr/>
        </p:nvSpPr>
        <p:spPr>
          <a:xfrm>
            <a:off x="7269480" y="32918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Загрузите VoltMarket.dt, войдите как «Продавец», забронируйте товар и продайте его по брони за минуту</a:t>
            </a:r>
            <a:endParaRPr lang="en-US" sz="1700" dirty="0"/>
          </a:p>
        </p:txBody>
      </p:sp>
      <p:sp>
        <p:nvSpPr>
          <p:cNvPr id="10" name="Подпись"/>
          <p:cNvSpPr txBox="1"/>
          <p:nvPr/>
        </p:nvSpPr>
        <p:spPr>
          <a:xfrm>
            <a:off x="73152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Команда «ВольтМаркет»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ltMarket">
  <a:themeElements>
    <a:clrScheme name="VoltMarket">
      <a:dk1>
        <a:srgbClr val="1B2430"/>
      </a:dk1>
      <a:lt1>
        <a:srgbClr val="FFFFFF"/>
      </a:lt1>
      <a:dk2>
        <a:srgbClr val="0F2747"/>
      </a:dk2>
      <a:lt2>
        <a:srgbClr val="EAF4FB"/>
      </a:lt2>
      <a:accent1>
        <a:srgbClr val="1565C0"/>
      </a:accent1>
      <a:accent2>
        <a:srgbClr val="00B4D8"/>
      </a:accent2>
      <a:accent3>
        <a:srgbClr val="FFB300"/>
      </a:accent3>
      <a:accent4>
        <a:srgbClr val="8796A5"/>
      </a:accent4>
      <a:accent5>
        <a:srgbClr val="2E7D32"/>
      </a:accent5>
      <a:accent6>
        <a:srgbClr val="C62828"/>
      </a:accent6>
      <a:hlink>
        <a:srgbClr val="1565C0"/>
      </a:hlink>
      <a:folHlink>
        <a:srgbClr val="0F2747"/>
      </a:folHlink>
    </a:clrScheme>
    <a:fontScheme name="VoltMark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Проектная команда «ВольтМаркет»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ВольтМаркет — презентация</dc:title>
  <dc:subject>PptxGenJS Presentation</dc:subject>
  <dc:creator>Проектная команда «ВольтМаркет»</dc:creator>
  <cp:lastModifiedBy>Проектная команда «ВольтМаркет»</cp:lastModifiedBy>
  <cp:revision>1</cp:revision>
  <dcterms:created xsi:type="dcterms:W3CDTF">2026-10-23T15:00:49Z</dcterms:created>
  <dcterms:modified xsi:type="dcterms:W3CDTF">2026-10-23T15:00:49Z</dcterms:modified>
</cp:coreProperties>
</file>