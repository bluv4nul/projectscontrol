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накомство" id="{283f8568-02af-9b44-1565-eed1d6ca851b}">
          <p14:sldIdLst>
            <p14:sldId id="256"/>
          </p14:sldIdLst>
        </p14:section>
        <p14:section name="Проблема и решение" id="{b06b79ba-6b47-4868-4ed3-7515c6d56976}">
          <p14:sldIdLst>
            <p14:sldId id="257"/>
            <p14:sldId id="258"/>
          </p14:sldIdLst>
        </p14:section>
        <p14:section name="Возможности" id="{1656efde-8212-e8ea-2227-a3f5d70f7d1e}">
          <p14:sldIdLst>
            <p14:sldId id="259"/>
            <p14:sldId id="260"/>
            <p14:sldId id="261"/>
          </p14:sldIdLst>
        </p14:section>
        <p14:section name="Надёжность" id="{52bab799-170d-af21-b53e-34b039b6bc69}">
          <p14:sldIdLst>
            <p14:sldId id="262"/>
            <p14:sldId id="263"/>
          </p14:sldIdLst>
        </p14:section>
        <p14:section name="Итог" id="{2d7d445d-d84b-1ec8-a0b9-98384b65bcc9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день! Мы — команда «ВольтМаркет». Сегодня мы покажем систему, которая наводит порядок в магазине электроники. ВольтМаркет — это информационная система на 1С:Предприятие 8.3: закупки, продажи, цены и склад в одном окне.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Представьте небольшой магазин электроники. Остатки считают в тетради или в таблице, и у каждого продавца свои цифры. Бывает, что покупатель уже оплатил телефон, а на складе его нет. А в конце месяца владелец видит выручку, но не понимает, сколько на самом деле заработал. Именно эти три проблемы решает ВольтМаркет.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ВольтМаркет собирает весь магазин в одном окне. Закупки, продажи, цены и остатки хранятся в одной базе, поэтому цифры у всех одинаковые. При входе сотрудник сразу видит рабочий стол: сколько товаров в каталоге, что лежит на складе, какие выручка и прибыль за месяц и какие товары пора заказать. А на каждом шаге система подсказывает и проверяет.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система? Каталог товаров с фотографиями: открываешь товар — и сразу видишь фото, цену и остаток. Цены хранятся с историей: новую цену можно назначить с нужной даты, а старые не теряются. Поступление от поставщика само увеличивает остаток. В продаже цена подставляется из прайса, система проверяет наличие и считает себестоимость. Отчёты показывают остатки по группам и прибыль за любой период, а накладная печатается одной кнопкой.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Вся работа — это три шага. Закупщик оформляет поступление — и товар появляется на складе. Продавец оформляет продажу — цена уже заполнена, а внизу виден остаток. А руководитель открывает анализ продаж и видит выручку, себестоимость и валовую прибыль по каждому товару и покупателю.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Особое внимание мы уделили каталогу. Слева — дерево товарных групп, справа — карточка выбранного товара с фотографией, ценой и остатком. Фото загружается прямо в карточку товара. И всё оформлено в едином фирменном стиле: тёмно-синий, голубой и янтарная молния — символ «Вольта».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сотрудник видит только своё. Закупщик работает с каталогом, поставщиками и поступлениями, продавец — с покупателями, ценами и продажами, а администратор управляет всем. При этом система защищает от ошибок: продать больше, чем есть на складе, нельзя — она сразу покажет, сколько товара в наличии. Обязательные поля проверяются, а два продавца не смогут одновременно продать один и тот же последний товар.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ВольтМаркет готов к работе с первого запуска: семнадцать товаров с фотографиями, поставщики, покупатели, цены и документы уже в базе. Четыре раздела, три роли и два языка интерфейса — русский и китайский. Да, наш ВольтМаркет говорит по-китайски!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ВольтМаркет — учёт, который заряжает ваш магазин. Попробуйте сами: загрузите базу, войдите как продавец и оформите первую продажу — это займёт минуту. Спасибо за внимание! Будем рады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31720"/>
            <a:ext cx="58521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5486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ёмный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ветлый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ВольтМаркет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оготип" descr="C:\Study\University\Portfolio\3-course\SEM5\Projects\Project-1\_work\generator\src\pictures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22960"/>
            <a:ext cx="4023360" cy="10058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3172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ВольтМаркет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56616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Учёт, который заряжает ваш магазин электроники</a:t>
            </a:r>
            <a:endParaRPr lang="en-US" sz="2200" dirty="0"/>
          </a:p>
        </p:txBody>
      </p:sp>
      <p:sp>
        <p:nvSpPr>
          <p:cNvPr id="5" name="Платформа"/>
          <p:cNvSpPr txBox="1"/>
          <p:nvPr/>
        </p:nvSpPr>
        <p:spPr>
          <a:xfrm>
            <a:off x="73152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Информационная система на 1С:Предприятие 8.3</a:t>
            </a:r>
            <a:endParaRPr lang="en-US" sz="1600" dirty="0"/>
          </a:p>
        </p:txBody>
      </p:sp>
      <p:sp>
        <p:nvSpPr>
          <p:cNvPr id="6" name="Подпись"/>
          <p:cNvSpPr txBox="1"/>
          <p:nvPr/>
        </p:nvSpPr>
        <p:spPr>
          <a:xfrm>
            <a:off x="73152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Учебный проект · РГПУ им. А. И. Герцена · 2026</a:t>
            </a:r>
            <a:endParaRPr lang="en-US" sz="1200" dirty="0"/>
          </a:p>
        </p:txBody>
      </p:sp>
      <p:sp>
        <p:nvSpPr>
          <p:cNvPr id="7" name="Рабочий стол рамка"/>
          <p:cNvSpPr/>
          <p:nvPr/>
        </p:nvSpPr>
        <p:spPr>
          <a:xfrm>
            <a:off x="6830568" y="1527048"/>
            <a:ext cx="4809744" cy="3010989"/>
          </a:xfrm>
          <a:prstGeom prst="roundRect">
            <a:avLst>
              <a:gd name="adj" fmla="val 3644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38100" dir="5400000">
              <a:srgbClr val="0F2747">
                <a:alpha val="25000"/>
              </a:srgbClr>
            </a:outerShdw>
          </a:effectLst>
        </p:spPr>
      </p:sp>
      <p:pic>
        <p:nvPicPr>
          <p:cNvPr id="8" name="Рабочий стол" descr="C:\Study\University\Portfolio\3-course\SEM5\Projects\Project-1\_work\cheatsheets\src\img\ru_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663440" cy="28646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Магазин без учёта — это хаос</a:t>
            </a:r>
            <a:endParaRPr lang="en-US" sz="3600" dirty="0"/>
          </a:p>
        </p:txBody>
      </p:sp>
      <p:sp>
        <p:nvSpPr>
          <p:cNvPr id="3" name="Проблема 1"/>
          <p:cNvSpPr/>
          <p:nvPr/>
        </p:nvSpPr>
        <p:spPr>
          <a:xfrm>
            <a:off x="640080" y="1600200"/>
            <a:ext cx="3474720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Проблема 1 круг"/>
          <p:cNvSpPr/>
          <p:nvPr/>
        </p:nvSpPr>
        <p:spPr>
          <a:xfrm>
            <a:off x="960120" y="1920240"/>
            <a:ext cx="914400" cy="914400"/>
          </a:xfrm>
          <a:prstGeom prst="ellipse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</p:sp>
      <p:pic>
        <p:nvPicPr>
          <p:cNvPr id="5" name="Проблема 1 икон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139696"/>
            <a:ext cx="475488" cy="475488"/>
          </a:xfrm>
          <a:prstGeom prst="rect">
            <a:avLst/>
          </a:prstGeom>
        </p:spPr>
      </p:pic>
      <p:sp>
        <p:nvSpPr>
          <p:cNvPr id="6" name="Проблема 1 заголовок"/>
          <p:cNvSpPr txBox="1"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Тетради и таблицы</a:t>
            </a:r>
            <a:endParaRPr lang="en-US" sz="2200" dirty="0"/>
          </a:p>
        </p:txBody>
      </p:sp>
      <p:sp>
        <p:nvSpPr>
          <p:cNvPr id="7" name="Проблема 1 текст"/>
          <p:cNvSpPr txBox="1"/>
          <p:nvPr/>
        </p:nvSpPr>
        <p:spPr>
          <a:xfrm>
            <a:off x="960120" y="3611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Остатки считают вручную, и у каждого сотрудника свои цифры</a:t>
            </a:r>
            <a:endParaRPr lang="en-US" sz="1600" dirty="0"/>
          </a:p>
        </p:txBody>
      </p:sp>
      <p:sp>
        <p:nvSpPr>
          <p:cNvPr id="8" name="Проблема 2"/>
          <p:cNvSpPr/>
          <p:nvPr/>
        </p:nvSpPr>
        <p:spPr>
          <a:xfrm>
            <a:off x="4389120" y="1600200"/>
            <a:ext cx="3474720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Проблема 2 круг"/>
          <p:cNvSpPr/>
          <p:nvPr/>
        </p:nvSpPr>
        <p:spPr>
          <a:xfrm>
            <a:off x="4709160" y="1920240"/>
            <a:ext cx="914400" cy="914400"/>
          </a:xfrm>
          <a:prstGeom prst="ellipse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</p:sp>
      <p:pic>
        <p:nvPicPr>
          <p:cNvPr id="10" name="Проблема 2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2139696"/>
            <a:ext cx="475488" cy="475488"/>
          </a:xfrm>
          <a:prstGeom prst="rect">
            <a:avLst/>
          </a:prstGeom>
        </p:spPr>
      </p:pic>
      <p:sp>
        <p:nvSpPr>
          <p:cNvPr id="11" name="Проблема 2 заголовок"/>
          <p:cNvSpPr txBox="1"/>
          <p:nvPr/>
        </p:nvSpPr>
        <p:spPr>
          <a:xfrm>
            <a:off x="470916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Продали то, чего нет</a:t>
            </a:r>
            <a:endParaRPr lang="en-US" sz="2200" dirty="0"/>
          </a:p>
        </p:txBody>
      </p:sp>
      <p:sp>
        <p:nvSpPr>
          <p:cNvPr id="12" name="Проблема 2 текст"/>
          <p:cNvSpPr txBox="1"/>
          <p:nvPr/>
        </p:nvSpPr>
        <p:spPr>
          <a:xfrm>
            <a:off x="4709160" y="3611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Покупатель уже оплатил, а товара на складе не оказалось</a:t>
            </a:r>
            <a:endParaRPr lang="en-US" sz="1600" dirty="0"/>
          </a:p>
        </p:txBody>
      </p:sp>
      <p:sp>
        <p:nvSpPr>
          <p:cNvPr id="13" name="Проблема 3"/>
          <p:cNvSpPr/>
          <p:nvPr/>
        </p:nvSpPr>
        <p:spPr>
          <a:xfrm>
            <a:off x="8138160" y="1600200"/>
            <a:ext cx="3474720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Проблема 3 круг"/>
          <p:cNvSpPr/>
          <p:nvPr/>
        </p:nvSpPr>
        <p:spPr>
          <a:xfrm>
            <a:off x="8458200" y="1920240"/>
            <a:ext cx="914400" cy="914400"/>
          </a:xfrm>
          <a:prstGeom prst="ellipse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</p:sp>
      <p:pic>
        <p:nvPicPr>
          <p:cNvPr id="15" name="Проблема 3 иконка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2139696"/>
            <a:ext cx="475488" cy="475488"/>
          </a:xfrm>
          <a:prstGeom prst="rect">
            <a:avLst/>
          </a:prstGeom>
        </p:spPr>
      </p:pic>
      <p:sp>
        <p:nvSpPr>
          <p:cNvPr id="16" name="Проблема 3 заголовок"/>
          <p:cNvSpPr txBox="1"/>
          <p:nvPr/>
        </p:nvSpPr>
        <p:spPr>
          <a:xfrm>
            <a:off x="845820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Сколько заработали?</a:t>
            </a:r>
            <a:endParaRPr lang="en-US" sz="2200" dirty="0"/>
          </a:p>
        </p:txBody>
      </p:sp>
      <p:sp>
        <p:nvSpPr>
          <p:cNvPr id="17" name="Проблема 3 текст"/>
          <p:cNvSpPr txBox="1"/>
          <p:nvPr/>
        </p:nvSpPr>
        <p:spPr>
          <a:xfrm>
            <a:off x="8458200" y="3611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Выручку видно, а себестоимость и прибыль — нет</a:t>
            </a:r>
            <a:endParaRPr lang="en-US" sz="1600" dirty="0"/>
          </a:p>
        </p:txBody>
      </p:sp>
      <p:sp>
        <p:nvSpPr>
          <p:cNvPr id="18" name="Вывод"/>
          <p:cNvSpPr txBox="1"/>
          <p:nvPr/>
        </p:nvSpPr>
        <p:spPr>
          <a:xfrm>
            <a:off x="640080" y="49834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ВольтМаркет решает все три проблемы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Весь магазин — в одном окне</a:t>
            </a:r>
            <a:endParaRPr lang="en-US" sz="3600" dirty="0"/>
          </a:p>
        </p:txBody>
      </p:sp>
      <p:sp>
        <p:nvSpPr>
          <p:cNvPr id="3" name="Решение 1 круг"/>
          <p:cNvSpPr/>
          <p:nvPr/>
        </p:nvSpPr>
        <p:spPr>
          <a:xfrm>
            <a:off x="640080" y="169164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Решение 1 икон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645" y="1867205"/>
            <a:ext cx="380390" cy="380390"/>
          </a:xfrm>
          <a:prstGeom prst="rect">
            <a:avLst/>
          </a:prstGeom>
        </p:spPr>
      </p:pic>
      <p:sp>
        <p:nvSpPr>
          <p:cNvPr id="5" name="Решение 1 текст"/>
          <p:cNvSpPr txBox="1"/>
          <p:nvPr/>
        </p:nvSpPr>
        <p:spPr>
          <a:xfrm>
            <a:off x="1600200" y="16459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Закупки, продажи, цены и склад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в одной базе, без расхождений</a:t>
            </a:r>
            <a:endParaRPr lang="en-US" sz="2100" dirty="0"/>
          </a:p>
        </p:txBody>
      </p:sp>
      <p:sp>
        <p:nvSpPr>
          <p:cNvPr id="6" name="Решение 2 круг"/>
          <p:cNvSpPr/>
          <p:nvPr/>
        </p:nvSpPr>
        <p:spPr>
          <a:xfrm>
            <a:off x="640080" y="306324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Решение 2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5" y="3238805"/>
            <a:ext cx="380390" cy="380390"/>
          </a:xfrm>
          <a:prstGeom prst="rect">
            <a:avLst/>
          </a:prstGeom>
        </p:spPr>
      </p:pic>
      <p:sp>
        <p:nvSpPr>
          <p:cNvPr id="8" name="Решение 2 текст"/>
          <p:cNvSpPr txBox="1"/>
          <p:nvPr/>
        </p:nvSpPr>
        <p:spPr>
          <a:xfrm>
            <a:off x="1600200" y="30175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Рабочий стол с показателями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остаток, выручка и прибыль за месяц</a:t>
            </a:r>
            <a:endParaRPr lang="en-US" sz="2100" dirty="0"/>
          </a:p>
        </p:txBody>
      </p:sp>
      <p:sp>
        <p:nvSpPr>
          <p:cNvPr id="9" name="Решение 3 круг"/>
          <p:cNvSpPr/>
          <p:nvPr/>
        </p:nvSpPr>
        <p:spPr>
          <a:xfrm>
            <a:off x="640080" y="443484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Решение 3 иконка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5" y="4610405"/>
            <a:ext cx="380390" cy="380390"/>
          </a:xfrm>
          <a:prstGeom prst="rect">
            <a:avLst/>
          </a:prstGeom>
        </p:spPr>
      </p:pic>
      <p:sp>
        <p:nvSpPr>
          <p:cNvPr id="11" name="Решение 3 текст"/>
          <p:cNvSpPr txBox="1"/>
          <p:nvPr/>
        </p:nvSpPr>
        <p:spPr>
          <a:xfrm>
            <a:off x="1600200" y="43891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Подсказки и проверки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на каждом шаге оформления</a:t>
            </a:r>
            <a:endParaRPr lang="en-US" sz="2100" dirty="0"/>
          </a:p>
        </p:txBody>
      </p:sp>
      <p:sp>
        <p:nvSpPr>
          <p:cNvPr id="12" name="Рабочий стол рамка"/>
          <p:cNvSpPr/>
          <p:nvPr/>
        </p:nvSpPr>
        <p:spPr>
          <a:xfrm>
            <a:off x="5824728" y="1527048"/>
            <a:ext cx="5815584" cy="3628862"/>
          </a:xfrm>
          <a:prstGeom prst="roundRect">
            <a:avLst>
              <a:gd name="adj" fmla="val 3024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38100" dir="5400000">
              <a:srgbClr val="0F2747">
                <a:alpha val="25000"/>
              </a:srgbClr>
            </a:outerShdw>
          </a:effectLst>
        </p:spPr>
      </p:sp>
      <p:pic>
        <p:nvPicPr>
          <p:cNvPr id="13" name="Рабочий стол" descr="C:\Study\University\Portfolio\3-course\SEM5\Projects\Project-1\_work\cheatsheets\src\img\ru_ho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1600200"/>
            <a:ext cx="5669280" cy="3482558"/>
          </a:xfrm>
          <a:prstGeom prst="rect">
            <a:avLst/>
          </a:prstGeom>
        </p:spPr>
      </p:pic>
      <p:sp>
        <p:nvSpPr>
          <p:cNvPr id="14" name="Подпись"/>
          <p:cNvSpPr txBox="1"/>
          <p:nvPr/>
        </p:nvSpPr>
        <p:spPr>
          <a:xfrm>
            <a:off x="5897880" y="526563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Рабочий стол администратора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Что умеет ВольтМаркет</a:t>
            </a:r>
            <a:endParaRPr lang="en-US" sz="3600" dirty="0"/>
          </a:p>
        </p:txBody>
      </p:sp>
      <p:sp>
        <p:nvSpPr>
          <p:cNvPr id="3" name="Возможность 1"/>
          <p:cNvSpPr/>
          <p:nvPr/>
        </p:nvSpPr>
        <p:spPr>
          <a:xfrm>
            <a:off x="640080" y="1554480"/>
            <a:ext cx="3474720" cy="20574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Возможность 1 круг"/>
          <p:cNvSpPr/>
          <p:nvPr/>
        </p:nvSpPr>
        <p:spPr>
          <a:xfrm>
            <a:off x="914400" y="1874520"/>
            <a:ext cx="777240" cy="77724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5" name="Возможность 1 икон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938" y="2061058"/>
            <a:ext cx="404165" cy="404165"/>
          </a:xfrm>
          <a:prstGeom prst="rect">
            <a:avLst/>
          </a:prstGeom>
        </p:spPr>
      </p:pic>
      <p:sp>
        <p:nvSpPr>
          <p:cNvPr id="6" name="Возможность 1 заголовок"/>
          <p:cNvSpPr txBox="1"/>
          <p:nvPr/>
        </p:nvSpPr>
        <p:spPr>
          <a:xfrm>
            <a:off x="1874520" y="18745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Каталог с фото</a:t>
            </a:r>
            <a:endParaRPr lang="en-US" sz="2000" dirty="0"/>
          </a:p>
        </p:txBody>
      </p:sp>
      <p:sp>
        <p:nvSpPr>
          <p:cNvPr id="7" name="Возможность 1 текст"/>
          <p:cNvSpPr txBox="1"/>
          <p:nvPr/>
        </p:nvSpPr>
        <p:spPr>
          <a:xfrm>
            <a:off x="914400" y="278892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Карточка товара с фотографией, ценой и остатком</a:t>
            </a:r>
            <a:endParaRPr lang="en-US" sz="1500" dirty="0"/>
          </a:p>
        </p:txBody>
      </p:sp>
      <p:sp>
        <p:nvSpPr>
          <p:cNvPr id="8" name="Возможность 2"/>
          <p:cNvSpPr/>
          <p:nvPr/>
        </p:nvSpPr>
        <p:spPr>
          <a:xfrm>
            <a:off x="4389120" y="1554480"/>
            <a:ext cx="3474720" cy="20574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Возможность 2 круг"/>
          <p:cNvSpPr/>
          <p:nvPr/>
        </p:nvSpPr>
        <p:spPr>
          <a:xfrm>
            <a:off x="4663440" y="1874520"/>
            <a:ext cx="777240" cy="77724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0" name="Возможность 2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9978" y="2061058"/>
            <a:ext cx="404165" cy="404165"/>
          </a:xfrm>
          <a:prstGeom prst="rect">
            <a:avLst/>
          </a:prstGeom>
        </p:spPr>
      </p:pic>
      <p:sp>
        <p:nvSpPr>
          <p:cNvPr id="11" name="Возможность 2 заголовок"/>
          <p:cNvSpPr txBox="1"/>
          <p:nvPr/>
        </p:nvSpPr>
        <p:spPr>
          <a:xfrm>
            <a:off x="5623560" y="18745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Цены с историей</a:t>
            </a:r>
            <a:endParaRPr lang="en-US" sz="2000" dirty="0"/>
          </a:p>
        </p:txBody>
      </p:sp>
      <p:sp>
        <p:nvSpPr>
          <p:cNvPr id="12" name="Возможность 2 текст"/>
          <p:cNvSpPr txBox="1"/>
          <p:nvPr/>
        </p:nvSpPr>
        <p:spPr>
          <a:xfrm>
            <a:off x="4663440" y="278892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Новая цена с нужной даты, прежние сохраняются</a:t>
            </a:r>
            <a:endParaRPr lang="en-US" sz="1500" dirty="0"/>
          </a:p>
        </p:txBody>
      </p:sp>
      <p:sp>
        <p:nvSpPr>
          <p:cNvPr id="13" name="Возможность 3"/>
          <p:cNvSpPr/>
          <p:nvPr/>
        </p:nvSpPr>
        <p:spPr>
          <a:xfrm>
            <a:off x="8138160" y="1554480"/>
            <a:ext cx="3474720" cy="20574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Возможность 3 круг"/>
          <p:cNvSpPr/>
          <p:nvPr/>
        </p:nvSpPr>
        <p:spPr>
          <a:xfrm>
            <a:off x="8412480" y="1874520"/>
            <a:ext cx="777240" cy="77724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5" name="Возможность 3 иконка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061058"/>
            <a:ext cx="404165" cy="404165"/>
          </a:xfrm>
          <a:prstGeom prst="rect">
            <a:avLst/>
          </a:prstGeom>
        </p:spPr>
      </p:pic>
      <p:sp>
        <p:nvSpPr>
          <p:cNvPr id="16" name="Возможность 3 заголовок"/>
          <p:cNvSpPr txBox="1"/>
          <p:nvPr/>
        </p:nvSpPr>
        <p:spPr>
          <a:xfrm>
            <a:off x="9372600" y="18745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Поступления</a:t>
            </a:r>
            <a:endParaRPr lang="en-US" sz="2000" dirty="0"/>
          </a:p>
        </p:txBody>
      </p:sp>
      <p:sp>
        <p:nvSpPr>
          <p:cNvPr id="17" name="Возможность 3 текст"/>
          <p:cNvSpPr txBox="1"/>
          <p:nvPr/>
        </p:nvSpPr>
        <p:spPr>
          <a:xfrm>
            <a:off x="8412480" y="278892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Приход от поставщика — остаток растёт сам</a:t>
            </a:r>
            <a:endParaRPr lang="en-US" sz="1500" dirty="0"/>
          </a:p>
        </p:txBody>
      </p:sp>
      <p:sp>
        <p:nvSpPr>
          <p:cNvPr id="18" name="Возможность 4"/>
          <p:cNvSpPr/>
          <p:nvPr/>
        </p:nvSpPr>
        <p:spPr>
          <a:xfrm>
            <a:off x="640080" y="3886200"/>
            <a:ext cx="3474720" cy="20574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Возможность 4 круг"/>
          <p:cNvSpPr/>
          <p:nvPr/>
        </p:nvSpPr>
        <p:spPr>
          <a:xfrm>
            <a:off x="914400" y="4206240"/>
            <a:ext cx="777240" cy="77724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0" name="Возможность 4 иконка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938" y="4392778"/>
            <a:ext cx="404165" cy="404165"/>
          </a:xfrm>
          <a:prstGeom prst="rect">
            <a:avLst/>
          </a:prstGeom>
        </p:spPr>
      </p:pic>
      <p:sp>
        <p:nvSpPr>
          <p:cNvPr id="21" name="Возможность 4 заголовок"/>
          <p:cNvSpPr txBox="1"/>
          <p:nvPr/>
        </p:nvSpPr>
        <p:spPr>
          <a:xfrm>
            <a:off x="1874520" y="4206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Продажи</a:t>
            </a:r>
            <a:endParaRPr lang="en-US" sz="2000" dirty="0"/>
          </a:p>
        </p:txBody>
      </p:sp>
      <p:sp>
        <p:nvSpPr>
          <p:cNvPr id="22" name="Возможность 4 текст"/>
          <p:cNvSpPr txBox="1"/>
          <p:nvPr/>
        </p:nvSpPr>
        <p:spPr>
          <a:xfrm>
            <a:off x="914400" y="51206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Цена из прайса, контроль остатка, расчёт прибыли</a:t>
            </a:r>
            <a:endParaRPr lang="en-US" sz="1500" dirty="0"/>
          </a:p>
        </p:txBody>
      </p:sp>
      <p:sp>
        <p:nvSpPr>
          <p:cNvPr id="23" name="Возможность 5"/>
          <p:cNvSpPr/>
          <p:nvPr/>
        </p:nvSpPr>
        <p:spPr>
          <a:xfrm>
            <a:off x="4389120" y="3886200"/>
            <a:ext cx="3474720" cy="20574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Возможность 5 круг"/>
          <p:cNvSpPr/>
          <p:nvPr/>
        </p:nvSpPr>
        <p:spPr>
          <a:xfrm>
            <a:off x="4663440" y="4206240"/>
            <a:ext cx="777240" cy="77724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5" name="Возможность 5 иконка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9978" y="4392778"/>
            <a:ext cx="404165" cy="404165"/>
          </a:xfrm>
          <a:prstGeom prst="rect">
            <a:avLst/>
          </a:prstGeom>
        </p:spPr>
      </p:pic>
      <p:sp>
        <p:nvSpPr>
          <p:cNvPr id="26" name="Возможность 5 заголовок"/>
          <p:cNvSpPr txBox="1"/>
          <p:nvPr/>
        </p:nvSpPr>
        <p:spPr>
          <a:xfrm>
            <a:off x="5623560" y="4206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Отчёты</a:t>
            </a:r>
            <a:endParaRPr lang="en-US" sz="2000" dirty="0"/>
          </a:p>
        </p:txBody>
      </p:sp>
      <p:sp>
        <p:nvSpPr>
          <p:cNvPr id="27" name="Возможность 5 текст"/>
          <p:cNvSpPr txBox="1"/>
          <p:nvPr/>
        </p:nvSpPr>
        <p:spPr>
          <a:xfrm>
            <a:off x="4663440" y="51206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Остатки по группам и анализ продаж за период</a:t>
            </a:r>
            <a:endParaRPr lang="en-US" sz="1500" dirty="0"/>
          </a:p>
        </p:txBody>
      </p:sp>
      <p:sp>
        <p:nvSpPr>
          <p:cNvPr id="28" name="Возможность 6"/>
          <p:cNvSpPr/>
          <p:nvPr/>
        </p:nvSpPr>
        <p:spPr>
          <a:xfrm>
            <a:off x="8138160" y="3886200"/>
            <a:ext cx="3474720" cy="20574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Возможность 6 круг"/>
          <p:cNvSpPr/>
          <p:nvPr/>
        </p:nvSpPr>
        <p:spPr>
          <a:xfrm>
            <a:off x="8412480" y="4206240"/>
            <a:ext cx="777240" cy="77724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30" name="Возможность 6 иконка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9018" y="4392778"/>
            <a:ext cx="404165" cy="404165"/>
          </a:xfrm>
          <a:prstGeom prst="rect">
            <a:avLst/>
          </a:prstGeom>
        </p:spPr>
      </p:pic>
      <p:sp>
        <p:nvSpPr>
          <p:cNvPr id="31" name="Возможность 6 заголовок"/>
          <p:cNvSpPr txBox="1"/>
          <p:nvPr/>
        </p:nvSpPr>
        <p:spPr>
          <a:xfrm>
            <a:off x="9372600" y="4206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Накладные</a:t>
            </a:r>
            <a:endParaRPr lang="en-US" sz="2000" dirty="0"/>
          </a:p>
        </p:txBody>
      </p:sp>
      <p:sp>
        <p:nvSpPr>
          <p:cNvPr id="32" name="Возможность 6 текст"/>
          <p:cNvSpPr txBox="1"/>
          <p:nvPr/>
        </p:nvSpPr>
        <p:spPr>
          <a:xfrm>
            <a:off x="8412480" y="51206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Печать в фирменном стиле одной кнопкой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Закупили → продали → заработали</a:t>
            </a:r>
            <a:endParaRPr lang="en-US" sz="3600" dirty="0"/>
          </a:p>
        </p:txBody>
      </p:sp>
      <p:sp>
        <p:nvSpPr>
          <p:cNvPr id="3" name="Шаг 1 номер"/>
          <p:cNvSpPr/>
          <p:nvPr/>
        </p:nvSpPr>
        <p:spPr>
          <a:xfrm>
            <a:off x="640080" y="1554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Шаг 1 цифра"/>
          <p:cNvSpPr txBox="1"/>
          <p:nvPr/>
        </p:nvSpPr>
        <p:spPr>
          <a:xfrm>
            <a:off x="64008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Шаг 1 заголовок"/>
          <p:cNvSpPr txBox="1"/>
          <p:nvPr/>
        </p:nvSpPr>
        <p:spPr>
          <a:xfrm>
            <a:off x="1417320" y="15544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Закупщик оформляет поступление</a:t>
            </a:r>
            <a:endParaRPr lang="en-US" sz="1700" dirty="0"/>
          </a:p>
        </p:txBody>
      </p:sp>
      <p:sp>
        <p:nvSpPr>
          <p:cNvPr id="6" name="Шаг 1 скриншот рамка"/>
          <p:cNvSpPr/>
          <p:nvPr/>
        </p:nvSpPr>
        <p:spPr>
          <a:xfrm>
            <a:off x="640080" y="2441448"/>
            <a:ext cx="3438144" cy="2168434"/>
          </a:xfrm>
          <a:prstGeom prst="roundRect">
            <a:avLst>
              <a:gd name="adj" fmla="val 506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38100" dir="5400000">
              <a:srgbClr val="0F2747">
                <a:alpha val="25000"/>
              </a:srgbClr>
            </a:outerShdw>
          </a:effectLst>
        </p:spPr>
      </p:sp>
      <p:pic>
        <p:nvPicPr>
          <p:cNvPr id="7" name="Шаг 1 скриншот" descr="C:\Study\University\Portfolio\3-course\SEM5\Projects\Project-1\_work\cheatsheets\src\img\ru_recei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514600"/>
            <a:ext cx="3291840" cy="2022130"/>
          </a:xfrm>
          <a:prstGeom prst="rect">
            <a:avLst/>
          </a:prstGeom>
        </p:spPr>
      </p:pic>
      <p:sp>
        <p:nvSpPr>
          <p:cNvPr id="8" name="Шаг 1 текст"/>
          <p:cNvSpPr txBox="1"/>
          <p:nvPr/>
        </p:nvSpPr>
        <p:spPr>
          <a:xfrm>
            <a:off x="640080" y="481105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Товар появляется на складе</a:t>
            </a:r>
            <a:endParaRPr lang="en-US" sz="1600" dirty="0"/>
          </a:p>
        </p:txBody>
      </p:sp>
      <p:pic>
        <p:nvPicPr>
          <p:cNvPr id="9" name="Стрелка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088" y="3246120"/>
            <a:ext cx="256032" cy="365760"/>
          </a:xfrm>
          <a:prstGeom prst="rect">
            <a:avLst/>
          </a:prstGeom>
        </p:spPr>
      </p:pic>
      <p:sp>
        <p:nvSpPr>
          <p:cNvPr id="10" name="Шаг 2 номер"/>
          <p:cNvSpPr/>
          <p:nvPr/>
        </p:nvSpPr>
        <p:spPr>
          <a:xfrm>
            <a:off x="4434840" y="1554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Шаг 2 цифра"/>
          <p:cNvSpPr txBox="1"/>
          <p:nvPr/>
        </p:nvSpPr>
        <p:spPr>
          <a:xfrm>
            <a:off x="44348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Шаг 2 заголовок"/>
          <p:cNvSpPr txBox="1"/>
          <p:nvPr/>
        </p:nvSpPr>
        <p:spPr>
          <a:xfrm>
            <a:off x="5212080" y="15544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Продавец оформляет продажу</a:t>
            </a:r>
            <a:endParaRPr lang="en-US" sz="1700" dirty="0"/>
          </a:p>
        </p:txBody>
      </p:sp>
      <p:sp>
        <p:nvSpPr>
          <p:cNvPr id="13" name="Шаг 2 скриншот рамка"/>
          <p:cNvSpPr/>
          <p:nvPr/>
        </p:nvSpPr>
        <p:spPr>
          <a:xfrm>
            <a:off x="4434840" y="2441448"/>
            <a:ext cx="3438144" cy="2168434"/>
          </a:xfrm>
          <a:prstGeom prst="roundRect">
            <a:avLst>
              <a:gd name="adj" fmla="val 506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38100" dir="5400000">
              <a:srgbClr val="0F2747">
                <a:alpha val="25000"/>
              </a:srgbClr>
            </a:outerShdw>
          </a:effectLst>
        </p:spPr>
      </p:sp>
      <p:pic>
        <p:nvPicPr>
          <p:cNvPr id="14" name="Шаг 2 скриншот" descr="C:\Study\University\Portfolio\3-course\SEM5\Projects\Project-1\_work\cheatsheets\src\img\ru_sa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514600"/>
            <a:ext cx="3291840" cy="2022130"/>
          </a:xfrm>
          <a:prstGeom prst="rect">
            <a:avLst/>
          </a:prstGeom>
        </p:spPr>
      </p:pic>
      <p:sp>
        <p:nvSpPr>
          <p:cNvPr id="15" name="Шаг 2 текст"/>
          <p:cNvSpPr txBox="1"/>
          <p:nvPr/>
        </p:nvSpPr>
        <p:spPr>
          <a:xfrm>
            <a:off x="4434840" y="481105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Цена уже заполнена, остаток виден</a:t>
            </a:r>
            <a:endParaRPr lang="en-US" sz="1600" dirty="0"/>
          </a:p>
        </p:txBody>
      </p:sp>
      <p:pic>
        <p:nvPicPr>
          <p:cNvPr id="16" name="Стрелка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3246120"/>
            <a:ext cx="256032" cy="365760"/>
          </a:xfrm>
          <a:prstGeom prst="rect">
            <a:avLst/>
          </a:prstGeom>
        </p:spPr>
      </p:pic>
      <p:sp>
        <p:nvSpPr>
          <p:cNvPr id="17" name="Шаг 3 номер"/>
          <p:cNvSpPr/>
          <p:nvPr/>
        </p:nvSpPr>
        <p:spPr>
          <a:xfrm>
            <a:off x="8229600" y="1554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Шаг 3 цифра"/>
          <p:cNvSpPr txBox="1"/>
          <p:nvPr/>
        </p:nvSpPr>
        <p:spPr>
          <a:xfrm>
            <a:off x="822960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19" name="Шаг 3 заголовок"/>
          <p:cNvSpPr txBox="1"/>
          <p:nvPr/>
        </p:nvSpPr>
        <p:spPr>
          <a:xfrm>
            <a:off x="9006840" y="15544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Руководитель смотрит отчёт</a:t>
            </a:r>
            <a:endParaRPr lang="en-US" sz="1700" dirty="0"/>
          </a:p>
        </p:txBody>
      </p:sp>
      <p:sp>
        <p:nvSpPr>
          <p:cNvPr id="20" name="Шаг 3 скриншот рамка"/>
          <p:cNvSpPr/>
          <p:nvPr/>
        </p:nvSpPr>
        <p:spPr>
          <a:xfrm>
            <a:off x="8229600" y="2441448"/>
            <a:ext cx="3438144" cy="2168434"/>
          </a:xfrm>
          <a:prstGeom prst="roundRect">
            <a:avLst>
              <a:gd name="adj" fmla="val 506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38100" dir="5400000">
              <a:srgbClr val="0F2747">
                <a:alpha val="25000"/>
              </a:srgbClr>
            </a:outerShdw>
          </a:effectLst>
        </p:spPr>
      </p:sp>
      <p:pic>
        <p:nvPicPr>
          <p:cNvPr id="21" name="Шаг 3 скриншот" descr="C:\Study\University\Portfolio\3-course\SEM5\Projects\Project-1\_work\cheatsheets\src\img\ru_report_sal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2752" y="2514600"/>
            <a:ext cx="3291840" cy="2022130"/>
          </a:xfrm>
          <a:prstGeom prst="rect">
            <a:avLst/>
          </a:prstGeom>
        </p:spPr>
      </p:pic>
      <p:sp>
        <p:nvSpPr>
          <p:cNvPr id="22" name="Шаг 3 текст"/>
          <p:cNvSpPr txBox="1"/>
          <p:nvPr/>
        </p:nvSpPr>
        <p:spPr>
          <a:xfrm>
            <a:off x="8229600" y="481105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Выручка, себестоимость и прибыль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Товар видно с первого взгляда</a:t>
            </a:r>
            <a:endParaRPr lang="en-US" sz="3600" dirty="0"/>
          </a:p>
        </p:txBody>
      </p:sp>
      <p:sp>
        <p:nvSpPr>
          <p:cNvPr id="3" name="Карточка товара рамка"/>
          <p:cNvSpPr/>
          <p:nvPr/>
        </p:nvSpPr>
        <p:spPr>
          <a:xfrm>
            <a:off x="640080" y="1527048"/>
            <a:ext cx="6089904" cy="3797373"/>
          </a:xfrm>
          <a:prstGeom prst="roundRect">
            <a:avLst>
              <a:gd name="adj" fmla="val 289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38100" dir="5400000">
              <a:srgbClr val="0F2747">
                <a:alpha val="25000"/>
              </a:srgbClr>
            </a:outerShdw>
          </a:effectLst>
        </p:spPr>
      </p:sp>
      <p:pic>
        <p:nvPicPr>
          <p:cNvPr id="4" name="Карточка товара" descr="C:\Study\University\Portfolio\3-course\SEM5\Projects\Project-1\_work\cheatsheets\src\img\ru_it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600200"/>
            <a:ext cx="5943600" cy="3651069"/>
          </a:xfrm>
          <a:prstGeom prst="rect">
            <a:avLst/>
          </a:prstGeom>
        </p:spPr>
      </p:pic>
      <p:sp>
        <p:nvSpPr>
          <p:cNvPr id="5" name="Подпись карточка"/>
          <p:cNvSpPr txBox="1"/>
          <p:nvPr/>
        </p:nvSpPr>
        <p:spPr>
          <a:xfrm>
            <a:off x="640080" y="5452437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Фото, цена и остаток — прямо в карточке товара</a:t>
            </a:r>
            <a:endParaRPr lang="en-US" sz="1500" dirty="0"/>
          </a:p>
        </p:txBody>
      </p:sp>
      <p:sp>
        <p:nvSpPr>
          <p:cNvPr id="6" name="Фото 1 рамка"/>
          <p:cNvSpPr/>
          <p:nvPr/>
        </p:nvSpPr>
        <p:spPr>
          <a:xfrm>
            <a:off x="6912864" y="1563624"/>
            <a:ext cx="2313432" cy="1746504"/>
          </a:xfrm>
          <a:prstGeom prst="roundRect">
            <a:avLst>
              <a:gd name="adj" fmla="val 4188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38100" dir="5400000">
              <a:srgbClr val="0F2747">
                <a:alpha val="25000"/>
              </a:srgbClr>
            </a:outerShdw>
          </a:effectLst>
        </p:spPr>
      </p:sp>
      <p:pic>
        <p:nvPicPr>
          <p:cNvPr id="7" name="Фото 1" descr="C:\Study\University\Portfolio\3-course\SEM5\Projects\Project-1\_work\generator\src\photos\VM-SP-0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2240280" cy="1682496"/>
          </a:xfrm>
          <a:prstGeom prst="rect">
            <a:avLst/>
          </a:prstGeom>
        </p:spPr>
      </p:pic>
      <p:sp>
        <p:nvSpPr>
          <p:cNvPr id="8" name="Фото 2 рамка"/>
          <p:cNvSpPr/>
          <p:nvPr/>
        </p:nvSpPr>
        <p:spPr>
          <a:xfrm>
            <a:off x="9317736" y="1563624"/>
            <a:ext cx="2313432" cy="1746504"/>
          </a:xfrm>
          <a:prstGeom prst="roundRect">
            <a:avLst>
              <a:gd name="adj" fmla="val 4188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38100" dir="5400000">
              <a:srgbClr val="0F2747">
                <a:alpha val="25000"/>
              </a:srgbClr>
            </a:outerShdw>
          </a:effectLst>
        </p:spPr>
      </p:sp>
      <p:pic>
        <p:nvPicPr>
          <p:cNvPr id="9" name="Фото 2" descr="C:\Study\University\Portfolio\3-course\SEM5\Projects\Project-1\_work\generator\src\photos\VM-NB-0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312" y="1600200"/>
            <a:ext cx="2240280" cy="1682496"/>
          </a:xfrm>
          <a:prstGeom prst="rect">
            <a:avLst/>
          </a:prstGeom>
        </p:spPr>
      </p:pic>
      <p:sp>
        <p:nvSpPr>
          <p:cNvPr id="10" name="Фото 3 рамка"/>
          <p:cNvSpPr/>
          <p:nvPr/>
        </p:nvSpPr>
        <p:spPr>
          <a:xfrm>
            <a:off x="6912864" y="3438144"/>
            <a:ext cx="2313432" cy="1746504"/>
          </a:xfrm>
          <a:prstGeom prst="roundRect">
            <a:avLst>
              <a:gd name="adj" fmla="val 4188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38100" dir="5400000">
              <a:srgbClr val="0F2747">
                <a:alpha val="25000"/>
              </a:srgbClr>
            </a:outerShdw>
          </a:effectLst>
        </p:spPr>
      </p:sp>
      <p:pic>
        <p:nvPicPr>
          <p:cNvPr id="11" name="Фото 3" descr="C:\Study\University\Portfolio\3-course\SEM5\Projects\Project-1\_work\generator\src\photos\VM-AU-0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474720"/>
            <a:ext cx="2240280" cy="1682496"/>
          </a:xfrm>
          <a:prstGeom prst="rect">
            <a:avLst/>
          </a:prstGeom>
        </p:spPr>
      </p:pic>
      <p:sp>
        <p:nvSpPr>
          <p:cNvPr id="12" name="Фото 4 рамка"/>
          <p:cNvSpPr/>
          <p:nvPr/>
        </p:nvSpPr>
        <p:spPr>
          <a:xfrm>
            <a:off x="9317736" y="3438144"/>
            <a:ext cx="2313432" cy="1746504"/>
          </a:xfrm>
          <a:prstGeom prst="roundRect">
            <a:avLst>
              <a:gd name="adj" fmla="val 4188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38100" dir="5400000">
              <a:srgbClr val="0F2747">
                <a:alpha val="25000"/>
              </a:srgbClr>
            </a:outerShdw>
          </a:effectLst>
        </p:spPr>
      </p:sp>
      <p:pic>
        <p:nvPicPr>
          <p:cNvPr id="13" name="Фото 4" descr="C:\Study\University\Portfolio\3-course\SEM5\Projects\Project-1\_work\generator\src\photos\VM-TV-00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4312" y="3474720"/>
            <a:ext cx="2240280" cy="1682496"/>
          </a:xfrm>
          <a:prstGeom prst="rect">
            <a:avLst/>
          </a:prstGeom>
        </p:spPr>
      </p:pic>
      <p:sp>
        <p:nvSpPr>
          <p:cNvPr id="14" name="Подпись фото"/>
          <p:cNvSpPr txBox="1"/>
          <p:nvPr/>
        </p:nvSpPr>
        <p:spPr>
          <a:xfrm>
            <a:off x="6949440" y="5452437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17 товаров — у каждого своя фотография в едином стиле</a:t>
            </a:r>
            <a:endParaRPr lang="en-US" sz="1500" dirty="0"/>
          </a:p>
        </p:txBody>
      </p:sp>
      <p:sp>
        <p:nvSpPr>
          <p:cNvPr id="15" name="Стиль"/>
          <p:cNvSpPr txBox="1"/>
          <p:nvPr/>
        </p:nvSpPr>
        <p:spPr>
          <a:xfrm>
            <a:off x="640080" y="587044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Единый фирменный стиль: тёмно-синий, голубой и янтарная молния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Каждому — своё, и никаких ошибок</a:t>
            </a:r>
            <a:endParaRPr lang="en-US" sz="3600" dirty="0"/>
          </a:p>
        </p:txBody>
      </p:sp>
      <p:sp>
        <p:nvSpPr>
          <p:cNvPr id="3" name="Роль 1 круг"/>
          <p:cNvSpPr/>
          <p:nvPr/>
        </p:nvSpPr>
        <p:spPr>
          <a:xfrm>
            <a:off x="640080" y="1645920"/>
            <a:ext cx="822960" cy="82296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4" name="Роль 1 икон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" y="1843430"/>
            <a:ext cx="427939" cy="427939"/>
          </a:xfrm>
          <a:prstGeom prst="rect">
            <a:avLst/>
          </a:prstGeom>
        </p:spPr>
      </p:pic>
      <p:sp>
        <p:nvSpPr>
          <p:cNvPr id="5" name="Роль 1 текст"/>
          <p:cNvSpPr txBox="1"/>
          <p:nvPr/>
        </p:nvSpPr>
        <p:spPr>
          <a:xfrm>
            <a:off x="1691640" y="1645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Закупщик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каталог, поставщики, поступления</a:t>
            </a:r>
            <a:endParaRPr lang="en-US" sz="2200" dirty="0"/>
          </a:p>
        </p:txBody>
      </p:sp>
      <p:sp>
        <p:nvSpPr>
          <p:cNvPr id="6" name="Роль 2 круг"/>
          <p:cNvSpPr/>
          <p:nvPr/>
        </p:nvSpPr>
        <p:spPr>
          <a:xfrm>
            <a:off x="640080" y="3017520"/>
            <a:ext cx="822960" cy="82296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7" name="Роль 2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590" y="3215030"/>
            <a:ext cx="427939" cy="427939"/>
          </a:xfrm>
          <a:prstGeom prst="rect">
            <a:avLst/>
          </a:prstGeom>
        </p:spPr>
      </p:pic>
      <p:sp>
        <p:nvSpPr>
          <p:cNvPr id="8" name="Роль 2 текст"/>
          <p:cNvSpPr txBox="1"/>
          <p:nvPr/>
        </p:nvSpPr>
        <p:spPr>
          <a:xfrm>
            <a:off x="1691640" y="30175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Продавец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покупатели, цены, продажи</a:t>
            </a:r>
            <a:endParaRPr lang="en-US" sz="2200" dirty="0"/>
          </a:p>
        </p:txBody>
      </p:sp>
      <p:sp>
        <p:nvSpPr>
          <p:cNvPr id="9" name="Роль 3 круг"/>
          <p:cNvSpPr/>
          <p:nvPr/>
        </p:nvSpPr>
        <p:spPr>
          <a:xfrm>
            <a:off x="640080" y="4389120"/>
            <a:ext cx="822960" cy="82296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0" name="Роль 3 иконка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" y="4586630"/>
            <a:ext cx="427939" cy="427939"/>
          </a:xfrm>
          <a:prstGeom prst="rect">
            <a:avLst/>
          </a:prstGeom>
        </p:spPr>
      </p:pic>
      <p:sp>
        <p:nvSpPr>
          <p:cNvPr id="11" name="Роль 3 текст"/>
          <p:cNvSpPr txBox="1"/>
          <p:nvPr/>
        </p:nvSpPr>
        <p:spPr>
          <a:xfrm>
            <a:off x="1691640" y="43891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Администратор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всё, плюс пользователи и права</a:t>
            </a:r>
            <a:endParaRPr lang="en-US" sz="2200" dirty="0"/>
          </a:p>
        </p:txBody>
      </p:sp>
      <p:sp>
        <p:nvSpPr>
          <p:cNvPr id="12" name="Защита"/>
          <p:cNvSpPr/>
          <p:nvPr/>
        </p:nvSpPr>
        <p:spPr>
          <a:xfrm>
            <a:off x="6035040" y="1645920"/>
            <a:ext cx="5486400" cy="3429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Защита круг"/>
          <p:cNvSpPr/>
          <p:nvPr/>
        </p:nvSpPr>
        <p:spPr>
          <a:xfrm>
            <a:off x="6355080" y="1920240"/>
            <a:ext cx="822960" cy="822960"/>
          </a:xfrm>
          <a:prstGeom prst="ellipse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</p:sp>
      <p:pic>
        <p:nvPicPr>
          <p:cNvPr id="14" name="Защита иконка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117750"/>
            <a:ext cx="427939" cy="427939"/>
          </a:xfrm>
          <a:prstGeom prst="rect">
            <a:avLst/>
          </a:prstGeom>
        </p:spPr>
      </p:pic>
      <p:sp>
        <p:nvSpPr>
          <p:cNvPr id="15" name="Защита заголовок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Защита от ошибок</a:t>
            </a:r>
            <a:endParaRPr lang="en-US" sz="2400" dirty="0"/>
          </a:p>
        </p:txBody>
      </p:sp>
      <p:sp>
        <p:nvSpPr>
          <p:cNvPr id="16" name="Защита список"/>
          <p:cNvSpPr txBox="1"/>
          <p:nvPr/>
        </p:nvSpPr>
        <p:spPr>
          <a:xfrm>
            <a:off x="6355080" y="297180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Нельзя продать больше, чем есть на складе — система покажет остаток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Обязательные поля проверяются перед проведением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Два продавца не продадут один последний товар одновременно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Готов к работе с первого запуска</a:t>
            </a:r>
            <a:endParaRPr lang="en-US" sz="3600" dirty="0"/>
          </a:p>
        </p:txBody>
      </p:sp>
      <p:sp>
        <p:nvSpPr>
          <p:cNvPr id="3" name="Показатель 1"/>
          <p:cNvSpPr/>
          <p:nvPr/>
        </p:nvSpPr>
        <p:spPr>
          <a:xfrm>
            <a:off x="640080" y="1600200"/>
            <a:ext cx="2560320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Показатель 1 число"/>
          <p:cNvSpPr txBox="1"/>
          <p:nvPr/>
        </p:nvSpPr>
        <p:spPr>
          <a:xfrm>
            <a:off x="640080" y="17830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17</a:t>
            </a:r>
            <a:endParaRPr lang="en-US" sz="6000" dirty="0"/>
          </a:p>
        </p:txBody>
      </p:sp>
      <p:sp>
        <p:nvSpPr>
          <p:cNvPr id="5" name="Показатель 1 подпись"/>
          <p:cNvSpPr txBox="1"/>
          <p:nvPr/>
        </p:nvSpPr>
        <p:spPr>
          <a:xfrm>
            <a:off x="64008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товаров с фото</a:t>
            </a:r>
            <a:endParaRPr lang="en-US" sz="1600" dirty="0"/>
          </a:p>
        </p:txBody>
      </p:sp>
      <p:sp>
        <p:nvSpPr>
          <p:cNvPr id="6" name="Показатель 2"/>
          <p:cNvSpPr/>
          <p:nvPr/>
        </p:nvSpPr>
        <p:spPr>
          <a:xfrm>
            <a:off x="3429000" y="1600200"/>
            <a:ext cx="2560320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Показатель 2 число"/>
          <p:cNvSpPr txBox="1"/>
          <p:nvPr/>
        </p:nvSpPr>
        <p:spPr>
          <a:xfrm>
            <a:off x="3429000" y="17830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4</a:t>
            </a:r>
            <a:endParaRPr lang="en-US" sz="6000" dirty="0"/>
          </a:p>
        </p:txBody>
      </p:sp>
      <p:sp>
        <p:nvSpPr>
          <p:cNvPr id="8" name="Показатель 2 подпись"/>
          <p:cNvSpPr txBox="1"/>
          <p:nvPr/>
        </p:nvSpPr>
        <p:spPr>
          <a:xfrm>
            <a:off x="34290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раздела</a:t>
            </a:r>
            <a:endParaRPr lang="en-US" sz="1600" dirty="0"/>
          </a:p>
        </p:txBody>
      </p:sp>
      <p:sp>
        <p:nvSpPr>
          <p:cNvPr id="9" name="Показатель 3"/>
          <p:cNvSpPr/>
          <p:nvPr/>
        </p:nvSpPr>
        <p:spPr>
          <a:xfrm>
            <a:off x="640080" y="3703320"/>
            <a:ext cx="2560320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Показатель 3 число"/>
          <p:cNvSpPr txBox="1"/>
          <p:nvPr/>
        </p:nvSpPr>
        <p:spPr>
          <a:xfrm>
            <a:off x="640080" y="38862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3</a:t>
            </a:r>
            <a:endParaRPr lang="en-US" sz="6000" dirty="0"/>
          </a:p>
        </p:txBody>
      </p:sp>
      <p:sp>
        <p:nvSpPr>
          <p:cNvPr id="11" name="Показатель 3 подпись"/>
          <p:cNvSpPr txBox="1"/>
          <p:nvPr/>
        </p:nvSpPr>
        <p:spPr>
          <a:xfrm>
            <a:off x="640080" y="4846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роли</a:t>
            </a:r>
            <a:endParaRPr lang="en-US" sz="1600" dirty="0"/>
          </a:p>
        </p:txBody>
      </p:sp>
      <p:sp>
        <p:nvSpPr>
          <p:cNvPr id="12" name="Показатель 4"/>
          <p:cNvSpPr/>
          <p:nvPr/>
        </p:nvSpPr>
        <p:spPr>
          <a:xfrm>
            <a:off x="3429000" y="3703320"/>
            <a:ext cx="2560320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Показатель 4 число"/>
          <p:cNvSpPr txBox="1"/>
          <p:nvPr/>
        </p:nvSpPr>
        <p:spPr>
          <a:xfrm>
            <a:off x="3429000" y="38862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2</a:t>
            </a:r>
            <a:endParaRPr lang="en-US" sz="6000" dirty="0"/>
          </a:p>
        </p:txBody>
      </p:sp>
      <p:sp>
        <p:nvSpPr>
          <p:cNvPr id="14" name="Показатель 4 подпись"/>
          <p:cNvSpPr txBox="1"/>
          <p:nvPr/>
        </p:nvSpPr>
        <p:spPr>
          <a:xfrm>
            <a:off x="3429000" y="4846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языка интерфейса</a:t>
            </a:r>
            <a:endParaRPr lang="en-US" sz="1600" dirty="0"/>
          </a:p>
        </p:txBody>
      </p:sp>
      <p:sp>
        <p:nvSpPr>
          <p:cNvPr id="15" name="Китайский интерфейс рамка"/>
          <p:cNvSpPr/>
          <p:nvPr/>
        </p:nvSpPr>
        <p:spPr>
          <a:xfrm>
            <a:off x="6327648" y="1527048"/>
            <a:ext cx="5312664" cy="3319925"/>
          </a:xfrm>
          <a:prstGeom prst="roundRect">
            <a:avLst>
              <a:gd name="adj" fmla="val 3305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38100" dir="5400000">
              <a:srgbClr val="0F2747">
                <a:alpha val="25000"/>
              </a:srgbClr>
            </a:outerShdw>
          </a:effectLst>
        </p:spPr>
      </p:sp>
      <p:pic>
        <p:nvPicPr>
          <p:cNvPr id="16" name="Китайский интерфейс" descr="C:\Study\University\Portfolio\3-course\SEM5\Projects\Project-1\_work\cheatsheets\src\img\zh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00200"/>
            <a:ext cx="5166360" cy="3173621"/>
          </a:xfrm>
          <a:prstGeom prst="rect">
            <a:avLst/>
          </a:prstGeom>
        </p:spPr>
      </p:pic>
      <p:sp>
        <p:nvSpPr>
          <p:cNvPr id="17" name="Подпись китайский"/>
          <p:cNvSpPr txBox="1"/>
          <p:nvPr/>
        </p:nvSpPr>
        <p:spPr>
          <a:xfrm>
            <a:off x="6400800" y="5002421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Говорит по-китайски: </a:t>
            </a:r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伏特商城 VoltMarket</a:t>
            </a:r>
            <a:endParaRPr lang="en-US" sz="1700" dirty="0"/>
          </a:p>
        </p:txBody>
      </p:sp>
      <p:sp>
        <p:nvSpPr>
          <p:cNvPr id="18" name="Демо"/>
          <p:cNvSpPr txBox="1"/>
          <p:nvPr/>
        </p:nvSpPr>
        <p:spPr>
          <a:xfrm>
            <a:off x="640080" y="585216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В базе уже есть товары, поставщики, покупатели, цены и документы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оготип" descr="C:\Study\University\Portfolio\3-course\SEM5\Projects\Project-1\_work\generator\src\pictures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22960"/>
            <a:ext cx="4023360" cy="10058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3172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Спасибо!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56616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ВольтМаркет — учёт, который заряжает ваш магазин</a:t>
            </a:r>
            <a:endParaRPr lang="en-US" sz="2200" dirty="0"/>
          </a:p>
        </p:txBody>
      </p:sp>
      <p:sp>
        <p:nvSpPr>
          <p:cNvPr id="5" name="Попробуйте"/>
          <p:cNvSpPr/>
          <p:nvPr/>
        </p:nvSpPr>
        <p:spPr>
          <a:xfrm>
            <a:off x="6949440" y="2011680"/>
            <a:ext cx="4572000" cy="2423160"/>
          </a:xfrm>
          <a:prstGeom prst="roundRect">
            <a:avLst>
              <a:gd name="adj" fmla="val 566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Попробуйте круг"/>
          <p:cNvSpPr/>
          <p:nvPr/>
        </p:nvSpPr>
        <p:spPr>
          <a:xfrm>
            <a:off x="7269480" y="2286000"/>
            <a:ext cx="822960" cy="822960"/>
          </a:xfrm>
          <a:prstGeom prst="ellipse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</p:sp>
      <p:pic>
        <p:nvPicPr>
          <p:cNvPr id="7" name="Попробуйте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990" y="2483510"/>
            <a:ext cx="427939" cy="427939"/>
          </a:xfrm>
          <a:prstGeom prst="rect">
            <a:avLst/>
          </a:prstGeom>
        </p:spPr>
      </p:pic>
      <p:sp>
        <p:nvSpPr>
          <p:cNvPr id="8" name="Попробуйте заголовок"/>
          <p:cNvSpPr txBox="1"/>
          <p:nvPr/>
        </p:nvSpPr>
        <p:spPr>
          <a:xfrm>
            <a:off x="8275320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Попробуйте сами</a:t>
            </a:r>
            <a:endParaRPr lang="en-US" sz="2400" dirty="0"/>
          </a:p>
        </p:txBody>
      </p:sp>
      <p:sp>
        <p:nvSpPr>
          <p:cNvPr id="9" name="Попробуйте текст"/>
          <p:cNvSpPr txBox="1"/>
          <p:nvPr/>
        </p:nvSpPr>
        <p:spPr>
          <a:xfrm>
            <a:off x="7269480" y="329184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Загрузите VoltMarket.dt, войдите как «Продавец» и оформите первую продажу за минуту</a:t>
            </a:r>
            <a:endParaRPr lang="en-US" sz="1700" dirty="0"/>
          </a:p>
        </p:txBody>
      </p:sp>
      <p:sp>
        <p:nvSpPr>
          <p:cNvPr id="10" name="Подпись"/>
          <p:cNvSpPr txBox="1"/>
          <p:nvPr/>
        </p:nvSpPr>
        <p:spPr>
          <a:xfrm>
            <a:off x="73152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Команда «ВольтМаркет» ·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oltMarket">
  <a:themeElements>
    <a:clrScheme name="VoltMarket">
      <a:dk1>
        <a:srgbClr val="1B2430"/>
      </a:dk1>
      <a:lt1>
        <a:srgbClr val="FFFFFF"/>
      </a:lt1>
      <a:dk2>
        <a:srgbClr val="0F2747"/>
      </a:dk2>
      <a:lt2>
        <a:srgbClr val="EAF4FB"/>
      </a:lt2>
      <a:accent1>
        <a:srgbClr val="1565C0"/>
      </a:accent1>
      <a:accent2>
        <a:srgbClr val="00B4D8"/>
      </a:accent2>
      <a:accent3>
        <a:srgbClr val="FFB300"/>
      </a:accent3>
      <a:accent4>
        <a:srgbClr val="8796A5"/>
      </a:accent4>
      <a:accent5>
        <a:srgbClr val="2E7D32"/>
      </a:accent5>
      <a:accent6>
        <a:srgbClr val="C62828"/>
      </a:accent6>
      <a:hlink>
        <a:srgbClr val="1565C0"/>
      </a:hlink>
      <a:folHlink>
        <a:srgbClr val="0F2747"/>
      </a:folHlink>
    </a:clrScheme>
    <a:fontScheme name="VoltMarke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Проектная команда «ВольтМаркет»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ВольтМаркет — презентация</dc:title>
  <dc:subject>PptxGenJS Presentation</dc:subject>
  <dc:creator>Проектная команда «ВольтМаркет»</dc:creator>
  <cp:lastModifiedBy>Проектная команда «ВольтМаркет»</cp:lastModifiedBy>
  <cp:revision>1</cp:revision>
  <dcterms:created xsi:type="dcterms:W3CDTF">2026-10-22T08:13:10Z</dcterms:created>
  <dcterms:modified xsi:type="dcterms:W3CDTF">2026-10-22T08:13:10Z</dcterms:modified>
</cp:coreProperties>
</file>